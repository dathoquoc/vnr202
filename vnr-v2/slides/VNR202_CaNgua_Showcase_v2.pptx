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00-02 · Thành viên 1. Chào hội trường, nêu tên sản phẩm. Mở bằng câu hỏi: "Vì sao năm 1930 được gọi là sự lựa chọn của chính lịch sử?" Không đọc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00-02 · Thành viên 1. Nêu vấn đề: nội dung chương dày mốc thời gian, tên tổ chức, tên văn kiện nên sinh viên dễ học vẹt. Chốt Central Question và mục tiêu học tập.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02-05 · Thành viên 2. Đi theo logic: thế giới → Việt Nam → các phong trào thất bại → nhu cầu một tổ chức tiên phong. Mỗi ý gắn 1 con số/ mốc, chỉ rõ thẻ/ câu hỏi trong game tương ứng. Chèn số Tập và Trang chuẩn vào Source Verification Log.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02-05 · Thành viên 2. Dùng trục thời gian. Nhấn mạnh 3 lớp chuẩn bị: tư tưởng, chính trị, tổ chức. Liên hệ: thẻ "Đường Cách Mệnh" và "Chủ Nghĩa Làm Cốt" trong game lấy từ nội dung này.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02-05 · Thành viên 2. Kể 3 bước: 1929 ba tổ chức → hội nghị 6/1-7/2/1930 tại Cửu Long (Hồng Kông) → Cương lĩnh. Đọc nguyên văn một câu trích. Chuyển sang slide 6: "Để học nội dung này, chúng em thiết kế một cuộc đua".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05-08 · Thành viên 3. Giải thích nhanh luật. Nhấn: đúng = đi + nhận thẻ; sai = vẫn đi nhưng không có thẻ, nên kiến thức quyết định công cụ để chặn đối thủ, không chỉ may rủi xúc xắc.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05-08 · Thành viên 3. DEMO THẬT: (1) mở màn chiếu /rooms/&lt;mã&gt;/board; (2) một đội đổ xúc xắc; (3) đọc câu hỏi, trả lời; (4) chỉ lời giải thích và số trang hiện sau mỗi lượt; (5) nhấn vào bảng xếp hạng. Chuẩn bị phương án dự phòng: video quay màn hình 60 giây.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05-08 · Thành viên 3. Chọn 3 thẻ để minh họa: Chia Để Trị (Pháp chia ba kỳ), Mua Chuộc (Sarraut), Chủ Nghĩa Làm Cốt (Đường cách mệnh). Thông điệp: mỗi thẻ là một mảnh kiến thức, chơi game là nhắc lại lịch sử.</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08-10 · Thành viên 4. BẮT BUỘC thay các ô [..] bằng số liệu thật từ buổi chơi thử (tối thiểu 15-20 người) và đính kèm form khảo sát, ảnh chụp. Không để trống hoặc bịa số. Nêu rõ 2-3 phản hồi đã dẫn tới thay đổi ở v2.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08-10 · Thành viên 4. So sánh v1 và v2. Giải thích lý do chuyển từ đấu máu 2 đội sang cá ngựa 6 đội: lớp đông, cần cả lớp cùng tham gia và có tương tác chặn nhau. Liệt kê rõ phần AI hỗ trợ trong 07_AI_Declaration.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10-12 · Nhóm trưởng. Đóng vòng: trả lời lại Central Question bằng 3 ý. Mỗi thành viên nêu 1 bài học cá nhân (liên hệ rubric 2.3). Không quá 2 phút.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PHÚT 10-12 · Nhóm trưởng. Cam kết No-AI live rebuttal: trả lời bằng hiểu biết của nhóm. Phân công trước: ai trả lời Context, ai Concept, ai Conflict. Chuẩn bị đáp án 3-4 câu mỗi nhóm; dùng phần giải thích và trang trong ngân hàng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85E4D"/>
        </a:solidFill>
        <a:effectLst/>
      </p:bgPr>
    </p:bg>
    <p:spTree>
      <p:nvGrpSpPr>
        <p:cNvPr id="1" name=""/>
        <p:cNvGrpSpPr/>
        <p:nvPr/>
      </p:nvGrpSpPr>
      <p:grpSpPr/>
      <p:sp>
        <p:nvSpPr>
          <p:cNvPr id="2" name="TextBox 1"/>
          <p:cNvSpPr txBox="1"/>
          <p:nvPr/>
        </p:nvSpPr>
        <p:spPr>
          <a:xfrm>
            <a:off x="731520" y="731520"/>
            <a:ext cx="10058400" cy="365760"/>
          </a:xfrm>
          <a:prstGeom prst="rect">
            <a:avLst/>
          </a:prstGeom>
          <a:noFill/>
        </p:spPr>
        <p:txBody>
          <a:bodyPr wrap="square">
            <a:spAutoFit/>
          </a:bodyPr>
          <a:lstStyle/>
          <a:p>
            <a:pPr algn="l">
              <a:spcAft>
                <a:spcPts val="600"/>
              </a:spcAft>
            </a:pPr>
            <a:r>
              <a:rPr sz="1300" b="1">
                <a:solidFill>
                  <a:srgbClr val="CFE3D9"/>
                </a:solidFill>
                <a:latin typeface="Calibri"/>
              </a:rPr>
              <a:t>TRƯỜNG ĐẠI HỌC FPT · LÝ LUẬN CHÍNH TRỊ · VNR202 · FALL 2026</a:t>
            </a:r>
          </a:p>
        </p:txBody>
      </p:sp>
      <p:sp>
        <p:nvSpPr>
          <p:cNvPr id="3" name="TextBox 2"/>
          <p:cNvSpPr txBox="1"/>
          <p:nvPr/>
        </p:nvSpPr>
        <p:spPr>
          <a:xfrm>
            <a:off x="731520" y="1737360"/>
            <a:ext cx="10515600" cy="1463040"/>
          </a:xfrm>
          <a:prstGeom prst="rect">
            <a:avLst/>
          </a:prstGeom>
          <a:noFill/>
        </p:spPr>
        <p:txBody>
          <a:bodyPr wrap="square">
            <a:spAutoFit/>
          </a:bodyPr>
          <a:lstStyle/>
          <a:p>
            <a:pPr algn="l">
              <a:spcAft>
                <a:spcPts val="600"/>
              </a:spcAft>
            </a:pPr>
            <a:r>
              <a:rPr sz="6000" b="1">
                <a:solidFill>
                  <a:srgbClr val="FFFFFF"/>
                </a:solidFill>
                <a:latin typeface="Cambria"/>
              </a:rPr>
              <a:t>Cá Ngựa Cách Mạng</a:t>
            </a:r>
          </a:p>
        </p:txBody>
      </p:sp>
      <p:sp>
        <p:nvSpPr>
          <p:cNvPr id="4" name="TextBox 3"/>
          <p:cNvSpPr txBox="1"/>
          <p:nvPr/>
        </p:nvSpPr>
        <p:spPr>
          <a:xfrm>
            <a:off x="731520" y="3017520"/>
            <a:ext cx="10515600" cy="1097280"/>
          </a:xfrm>
          <a:prstGeom prst="rect">
            <a:avLst/>
          </a:prstGeom>
          <a:noFill/>
        </p:spPr>
        <p:txBody>
          <a:bodyPr wrap="square">
            <a:spAutoFit/>
          </a:bodyPr>
          <a:lstStyle/>
          <a:p>
            <a:pPr algn="l">
              <a:spcAft>
                <a:spcPts val="600"/>
              </a:spcAft>
            </a:pPr>
            <a:r>
              <a:rPr sz="2400" b="0">
                <a:solidFill>
                  <a:srgbClr val="F7E7CF"/>
                </a:solidFill>
                <a:latin typeface="Calibri"/>
              </a:rPr>
              <a:t>Trò chơi 6 đội ôn tập: Đảng Cộng sản Việt Nam ra đời và Cương lĩnh chính trị đầu tiên (2/1930)</a:t>
            </a:r>
          </a:p>
        </p:txBody>
      </p:sp>
      <p:sp>
        <p:nvSpPr>
          <p:cNvPr id="5" name="TextBox 4"/>
          <p:cNvSpPr txBox="1"/>
          <p:nvPr/>
        </p:nvSpPr>
        <p:spPr>
          <a:xfrm>
            <a:off x="731520" y="4754880"/>
            <a:ext cx="10515600" cy="1280160"/>
          </a:xfrm>
          <a:prstGeom prst="rect">
            <a:avLst/>
          </a:prstGeom>
          <a:noFill/>
        </p:spPr>
        <p:txBody>
          <a:bodyPr wrap="square">
            <a:spAutoFit/>
          </a:bodyPr>
          <a:lstStyle/>
          <a:p>
            <a:pPr algn="l">
              <a:spcAft>
                <a:spcPts val="600"/>
              </a:spcAft>
            </a:pPr>
            <a:r>
              <a:rPr sz="1600" b="0">
                <a:solidFill>
                  <a:srgbClr val="FFFFFF"/>
                </a:solidFill>
                <a:latin typeface="Calibri"/>
              </a:rPr>
              <a:t>Nhóm: [TÊN NHÓM] · Lớp: [LỚP] · Topic ID: [MÃ]</a:t>
            </a:r>
          </a:p>
          <a:p>
            <a:pPr algn="l">
              <a:spcAft>
                <a:spcPts val="600"/>
              </a:spcAft>
            </a:pPr>
            <a:r>
              <a:rPr sz="1600" b="0">
                <a:solidFill>
                  <a:srgbClr val="FFFFFF"/>
                </a:solidFill>
                <a:latin typeface="Calibri"/>
              </a:rPr>
              <a:t>Thành viên: [1] · [2] · [3] · [4] · [Nhóm trưởng]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274320"/>
          </a:xfrm>
          <a:prstGeom prst="rect">
            <a:avLst/>
          </a:prstGeom>
          <a:noFill/>
        </p:spPr>
        <p:txBody>
          <a:bodyPr wrap="square">
            <a:spAutoFit/>
          </a:bodyPr>
          <a:lstStyle/>
          <a:p>
            <a:pPr algn="l">
              <a:spcAft>
                <a:spcPts val="600"/>
              </a:spcAft>
            </a:pPr>
            <a:r>
              <a:rPr sz="1200" b="1">
                <a:solidFill>
                  <a:srgbClr val="285E4D"/>
                </a:solidFill>
                <a:latin typeface="Calibri"/>
              </a:rPr>
              <a:t>BỐI CẢNH · CÂU HỎI NGHIÊN CỨU TRUNG TÂM</a:t>
            </a:r>
          </a:p>
        </p:txBody>
      </p:sp>
      <p:sp>
        <p:nvSpPr>
          <p:cNvPr id="4" name="TextBox 3"/>
          <p:cNvSpPr txBox="1"/>
          <p:nvPr/>
        </p:nvSpPr>
        <p:spPr>
          <a:xfrm>
            <a:off x="548640" y="548640"/>
            <a:ext cx="10972800" cy="822960"/>
          </a:xfrm>
          <a:prstGeom prst="rect">
            <a:avLst/>
          </a:prstGeom>
          <a:noFill/>
        </p:spPr>
        <p:txBody>
          <a:bodyPr wrap="square">
            <a:spAutoFit/>
          </a:bodyPr>
          <a:lstStyle/>
          <a:p>
            <a:pPr algn="l">
              <a:spcAft>
                <a:spcPts val="600"/>
              </a:spcAft>
            </a:pPr>
            <a:r>
              <a:rPr sz="3200" b="1">
                <a:solidFill>
                  <a:srgbClr val="243D34"/>
                </a:solidFill>
                <a:latin typeface="Cambria"/>
              </a:rPr>
              <a:t>Vì sao cần một cách học khác về sự ra đời của Đảng?</a:t>
            </a:r>
          </a:p>
        </p:txBody>
      </p:sp>
      <p:sp>
        <p:nvSpPr>
          <p:cNvPr id="5" name="TextBox 4"/>
          <p:cNvSpPr txBox="1"/>
          <p:nvPr/>
        </p:nvSpPr>
        <p:spPr>
          <a:xfrm>
            <a:off x="548640" y="6446520"/>
            <a:ext cx="8229600" cy="274320"/>
          </a:xfrm>
          <a:prstGeom prst="rect">
            <a:avLst/>
          </a:prstGeom>
          <a:noFill/>
        </p:spPr>
        <p:txBody>
          <a:bodyPr wrap="square">
            <a:spAutoFit/>
          </a:bodyPr>
          <a:lstStyle/>
          <a:p>
            <a:pPr algn="l">
              <a:spcAft>
                <a:spcPts val="600"/>
              </a:spcAft>
            </a:pPr>
            <a:r>
              <a:rPr sz="1000" b="0">
                <a:solidFill>
                  <a:srgbClr val="66776E"/>
                </a:solidFill>
                <a:latin typeface="Calibri"/>
              </a:rPr>
              <a:t>VNR202 · Cá Ngựa Cách Mạng v2 · Fall 2026</a:t>
            </a:r>
          </a:p>
        </p:txBody>
      </p:sp>
      <p:sp>
        <p:nvSpPr>
          <p:cNvPr id="6" name="TextBox 5"/>
          <p:cNvSpPr txBox="1"/>
          <p:nvPr/>
        </p:nvSpPr>
        <p:spPr>
          <a:xfrm>
            <a:off x="10972800" y="6446520"/>
            <a:ext cx="731520" cy="274320"/>
          </a:xfrm>
          <a:prstGeom prst="rect">
            <a:avLst/>
          </a:prstGeom>
          <a:noFill/>
        </p:spPr>
        <p:txBody>
          <a:bodyPr wrap="square">
            <a:spAutoFit/>
          </a:bodyPr>
          <a:lstStyle/>
          <a:p>
            <a:pPr algn="r">
              <a:spcAft>
                <a:spcPts val="600"/>
              </a:spcAft>
            </a:pPr>
            <a:r>
              <a:rPr sz="1000" b="0">
                <a:solidFill>
                  <a:srgbClr val="66776E"/>
                </a:solidFill>
                <a:latin typeface="Calibri"/>
              </a:rPr>
              <a:t>2</a:t>
            </a:r>
          </a:p>
        </p:txBody>
      </p:sp>
      <p:sp>
        <p:nvSpPr>
          <p:cNvPr id="7" name="Rounded Rectangle 6"/>
          <p:cNvSpPr/>
          <p:nvPr/>
        </p:nvSpPr>
        <p:spPr>
          <a:xfrm>
            <a:off x="548640" y="1645920"/>
            <a:ext cx="5394960" cy="210312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55648"/>
            <a:ext cx="5029200" cy="457200"/>
          </a:xfrm>
          <a:prstGeom prst="rect">
            <a:avLst/>
          </a:prstGeom>
          <a:noFill/>
        </p:spPr>
        <p:txBody>
          <a:bodyPr wrap="square">
            <a:spAutoFit/>
          </a:bodyPr>
          <a:lstStyle/>
          <a:p>
            <a:pPr algn="l">
              <a:spcAft>
                <a:spcPts val="600"/>
              </a:spcAft>
            </a:pPr>
            <a:r>
              <a:rPr sz="1600" b="1">
                <a:solidFill>
                  <a:srgbClr val="FFFFFF"/>
                </a:solidFill>
                <a:latin typeface="Calibri"/>
              </a:rPr>
              <a:t>Vấn đề thực tế</a:t>
            </a:r>
          </a:p>
        </p:txBody>
      </p:sp>
      <p:sp>
        <p:nvSpPr>
          <p:cNvPr id="9" name="TextBox 8"/>
          <p:cNvSpPr txBox="1"/>
          <p:nvPr/>
        </p:nvSpPr>
        <p:spPr>
          <a:xfrm>
            <a:off x="731520" y="2212848"/>
            <a:ext cx="5029200" cy="1463039"/>
          </a:xfrm>
          <a:prstGeom prst="rect">
            <a:avLst/>
          </a:prstGeom>
          <a:noFill/>
        </p:spPr>
        <p:txBody>
          <a:bodyPr wrap="square">
            <a:spAutoFit/>
          </a:bodyPr>
          <a:lstStyle/>
          <a:p>
            <a:pPr algn="l">
              <a:spcAft>
                <a:spcPts val="600"/>
              </a:spcAft>
            </a:pPr>
            <a:r>
              <a:rPr sz="1300" b="0">
                <a:solidFill>
                  <a:srgbClr val="FFFFFF"/>
                </a:solidFill>
                <a:latin typeface="Calibri"/>
              </a:rPr>
              <a:t>Chương I có hàng chục mốc, 3 tổ chức cộng sản, 4 văn kiện hội nghị 1930. Sinh viên thuộc lòng rồi quên, khó thấy logic: vì sao các phong trào trước thất bại và vì sao chỉ con đường vô sản thành công.</a:t>
            </a:r>
          </a:p>
        </p:txBody>
      </p:sp>
      <p:sp>
        <p:nvSpPr>
          <p:cNvPr id="10" name="Rounded Rectangle 9"/>
          <p:cNvSpPr/>
          <p:nvPr/>
        </p:nvSpPr>
        <p:spPr>
          <a:xfrm>
            <a:off x="6217920" y="1645920"/>
            <a:ext cx="5394960" cy="2103120"/>
          </a:xfrm>
          <a:prstGeom prst="roundRect">
            <a:avLst>
              <a:gd name="adj" fmla="val 8000"/>
            </a:avLst>
          </a:prstGeom>
          <a:solidFill>
            <a:srgbClr val="BF8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55648"/>
            <a:ext cx="5029200" cy="457200"/>
          </a:xfrm>
          <a:prstGeom prst="rect">
            <a:avLst/>
          </a:prstGeom>
          <a:noFill/>
        </p:spPr>
        <p:txBody>
          <a:bodyPr wrap="square">
            <a:spAutoFit/>
          </a:bodyPr>
          <a:lstStyle/>
          <a:p>
            <a:pPr algn="l">
              <a:spcAft>
                <a:spcPts val="600"/>
              </a:spcAft>
            </a:pPr>
            <a:r>
              <a:rPr sz="1600" b="1">
                <a:solidFill>
                  <a:srgbClr val="FFFFFF"/>
                </a:solidFill>
                <a:latin typeface="Calibri"/>
              </a:rPr>
              <a:t>Giải pháp: học bằng cuộc đua</a:t>
            </a:r>
          </a:p>
        </p:txBody>
      </p:sp>
      <p:sp>
        <p:nvSpPr>
          <p:cNvPr id="12" name="TextBox 11"/>
          <p:cNvSpPr txBox="1"/>
          <p:nvPr/>
        </p:nvSpPr>
        <p:spPr>
          <a:xfrm>
            <a:off x="6400800" y="2212848"/>
            <a:ext cx="5029200" cy="1463039"/>
          </a:xfrm>
          <a:prstGeom prst="rect">
            <a:avLst/>
          </a:prstGeom>
          <a:noFill/>
        </p:spPr>
        <p:txBody>
          <a:bodyPr wrap="square">
            <a:spAutoFit/>
          </a:bodyPr>
          <a:lstStyle/>
          <a:p>
            <a:pPr algn="l">
              <a:spcAft>
                <a:spcPts val="600"/>
              </a:spcAft>
            </a:pPr>
            <a:r>
              <a:rPr sz="1300" b="0">
                <a:solidFill>
                  <a:srgbClr val="FFFFFF"/>
                </a:solidFill>
                <a:latin typeface="Calibri"/>
              </a:rPr>
              <a:t>Cá ngựa 6 đội. Mỗi lượt đổ xúc xắc và trả lời một câu hỏi từ giáo trình. Đúng thì nhận thẻ kỹ năng để tăng tốc hoặc chặn đối thủ. Về đích trước thì thắng.</a:t>
            </a:r>
          </a:p>
        </p:txBody>
      </p:sp>
      <p:sp>
        <p:nvSpPr>
          <p:cNvPr id="13" name="Rounded Rectangle 12"/>
          <p:cNvSpPr/>
          <p:nvPr/>
        </p:nvSpPr>
        <p:spPr>
          <a:xfrm>
            <a:off x="548640" y="4114800"/>
            <a:ext cx="11064240" cy="1737360"/>
          </a:xfrm>
          <a:prstGeom prst="roundRect">
            <a:avLst>
              <a:gd name="adj" fmla="val 8000"/>
            </a:avLst>
          </a:prstGeom>
          <a:solidFill>
            <a:srgbClr val="E8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251960"/>
            <a:ext cx="10515600" cy="365760"/>
          </a:xfrm>
          <a:prstGeom prst="rect">
            <a:avLst/>
          </a:prstGeom>
          <a:noFill/>
        </p:spPr>
        <p:txBody>
          <a:bodyPr wrap="square">
            <a:spAutoFit/>
          </a:bodyPr>
          <a:lstStyle/>
          <a:p>
            <a:pPr algn="l">
              <a:spcAft>
                <a:spcPts val="600"/>
              </a:spcAft>
            </a:pPr>
            <a:r>
              <a:rPr sz="1200" b="1">
                <a:solidFill>
                  <a:srgbClr val="285E4D"/>
                </a:solidFill>
                <a:latin typeface="Calibri"/>
              </a:rPr>
              <a:t>CÂU HỎI NGHIÊN CỨU TRUNG TÂM</a:t>
            </a:r>
          </a:p>
        </p:txBody>
      </p:sp>
      <p:sp>
        <p:nvSpPr>
          <p:cNvPr id="15" name="TextBox 14"/>
          <p:cNvSpPr txBox="1"/>
          <p:nvPr/>
        </p:nvSpPr>
        <p:spPr>
          <a:xfrm>
            <a:off x="822960" y="4617720"/>
            <a:ext cx="10515600" cy="1188720"/>
          </a:xfrm>
          <a:prstGeom prst="rect">
            <a:avLst/>
          </a:prstGeom>
          <a:noFill/>
        </p:spPr>
        <p:txBody>
          <a:bodyPr wrap="square">
            <a:spAutoFit/>
          </a:bodyPr>
          <a:lstStyle/>
          <a:p>
            <a:pPr algn="l">
              <a:spcAft>
                <a:spcPts val="600"/>
              </a:spcAft>
            </a:pPr>
            <a:r>
              <a:rPr sz="2000" b="1">
                <a:solidFill>
                  <a:srgbClr val="243D34"/>
                </a:solidFill>
                <a:latin typeface="Cambria"/>
              </a:rPr>
              <a:t>“Làm thế nào để sinh viên không chỉ nhớ mà còn hiểu vì sao sự ra đời của Đảng (2/1930) và Cương lĩnh chính trị đầu tiên là bước ngoặt tất yếu của cách mạng Việt Nam?”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274320"/>
          </a:xfrm>
          <a:prstGeom prst="rect">
            <a:avLst/>
          </a:prstGeom>
          <a:noFill/>
        </p:spPr>
        <p:txBody>
          <a:bodyPr wrap="square">
            <a:spAutoFit/>
          </a:bodyPr>
          <a:lstStyle/>
          <a:p>
            <a:pPr algn="l">
              <a:spcAft>
                <a:spcPts val="600"/>
              </a:spcAft>
            </a:pPr>
            <a:r>
              <a:rPr sz="1200" b="1">
                <a:solidFill>
                  <a:srgbClr val="285E4D"/>
                </a:solidFill>
                <a:latin typeface="Calibri"/>
              </a:rPr>
              <a:t>CƠ SỞ LÝ LUẬN · GIÁO TRÌNH CHƯƠNG I, MỤC 1 (TR.36-49)</a:t>
            </a:r>
          </a:p>
        </p:txBody>
      </p:sp>
      <p:sp>
        <p:nvSpPr>
          <p:cNvPr id="4" name="TextBox 3"/>
          <p:cNvSpPr txBox="1"/>
          <p:nvPr/>
        </p:nvSpPr>
        <p:spPr>
          <a:xfrm>
            <a:off x="548640" y="548640"/>
            <a:ext cx="10972800" cy="822960"/>
          </a:xfrm>
          <a:prstGeom prst="rect">
            <a:avLst/>
          </a:prstGeom>
          <a:noFill/>
        </p:spPr>
        <p:txBody>
          <a:bodyPr wrap="square">
            <a:spAutoFit/>
          </a:bodyPr>
          <a:lstStyle/>
          <a:p>
            <a:pPr algn="l">
              <a:spcAft>
                <a:spcPts val="600"/>
              </a:spcAft>
            </a:pPr>
            <a:r>
              <a:rPr sz="3200" b="1">
                <a:solidFill>
                  <a:srgbClr val="243D34"/>
                </a:solidFill>
                <a:latin typeface="Cambria"/>
              </a:rPr>
              <a:t>Căn cứ 1: Vì sao cách mạng Việt Nam cần một Đảng?</a:t>
            </a:r>
          </a:p>
        </p:txBody>
      </p:sp>
      <p:sp>
        <p:nvSpPr>
          <p:cNvPr id="5" name="TextBox 4"/>
          <p:cNvSpPr txBox="1"/>
          <p:nvPr/>
        </p:nvSpPr>
        <p:spPr>
          <a:xfrm>
            <a:off x="548640" y="6446520"/>
            <a:ext cx="8229600" cy="274320"/>
          </a:xfrm>
          <a:prstGeom prst="rect">
            <a:avLst/>
          </a:prstGeom>
          <a:noFill/>
        </p:spPr>
        <p:txBody>
          <a:bodyPr wrap="square">
            <a:spAutoFit/>
          </a:bodyPr>
          <a:lstStyle/>
          <a:p>
            <a:pPr algn="l">
              <a:spcAft>
                <a:spcPts val="600"/>
              </a:spcAft>
            </a:pPr>
            <a:r>
              <a:rPr sz="1000" b="0">
                <a:solidFill>
                  <a:srgbClr val="66776E"/>
                </a:solidFill>
                <a:latin typeface="Calibri"/>
              </a:rPr>
              <a:t>VNR202 · Cá Ngựa Cách Mạng v2 · Fall 2026</a:t>
            </a:r>
          </a:p>
        </p:txBody>
      </p:sp>
      <p:sp>
        <p:nvSpPr>
          <p:cNvPr id="6" name="TextBox 5"/>
          <p:cNvSpPr txBox="1"/>
          <p:nvPr/>
        </p:nvSpPr>
        <p:spPr>
          <a:xfrm>
            <a:off x="10972800" y="6446520"/>
            <a:ext cx="731520" cy="274320"/>
          </a:xfrm>
          <a:prstGeom prst="rect">
            <a:avLst/>
          </a:prstGeom>
          <a:noFill/>
        </p:spPr>
        <p:txBody>
          <a:bodyPr wrap="square">
            <a:spAutoFit/>
          </a:bodyPr>
          <a:lstStyle/>
          <a:p>
            <a:pPr algn="r">
              <a:spcAft>
                <a:spcPts val="600"/>
              </a:spcAft>
            </a:pPr>
            <a:r>
              <a:rPr sz="1000" b="0">
                <a:solidFill>
                  <a:srgbClr val="66776E"/>
                </a:solidFill>
                <a:latin typeface="Calibri"/>
              </a:rPr>
              <a:t>3</a:t>
            </a:r>
          </a:p>
        </p:txBody>
      </p:sp>
      <p:sp>
        <p:nvSpPr>
          <p:cNvPr id="7" name="TextBox 6"/>
          <p:cNvSpPr txBox="1"/>
          <p:nvPr/>
        </p:nvSpPr>
        <p:spPr>
          <a:xfrm>
            <a:off x="548640" y="1463040"/>
            <a:ext cx="5669280" cy="4572000"/>
          </a:xfrm>
          <a:prstGeom prst="rect">
            <a:avLst/>
          </a:prstGeom>
          <a:noFill/>
        </p:spPr>
        <p:txBody>
          <a:bodyPr wrap="square">
            <a:spAutoFit/>
          </a:bodyPr>
          <a:lstStyle/>
          <a:p>
            <a:pPr>
              <a:spcAft>
                <a:spcPts val="900"/>
              </a:spcAft>
            </a:pPr>
            <a:r>
              <a:rPr sz="1500" b="1">
                <a:solidFill>
                  <a:srgbClr val="243D34"/>
                </a:solidFill>
                <a:latin typeface="Calibri"/>
              </a:rPr>
              <a:t>▪ Thế giới</a:t>
            </a:r>
            <a:r>
              <a:rPr sz="1500">
                <a:solidFill>
                  <a:srgbClr val="243D34"/>
                </a:solidFill>
                <a:latin typeface="Calibri"/>
              </a:rPr>
              <a:t> CNTB chuyển sang đế quốc chủ nghĩa; Cách mạng Tháng Mười Nga (1917); Quốc tế Cộng sản thành lập 3/1919; Đại hội II (1920) thông qua Luận cương dân tộc và thuộc địa của Lênin.</a:t>
            </a:r>
          </a:p>
          <a:p>
            <a:pPr>
              <a:spcAft>
                <a:spcPts val="900"/>
              </a:spcAft>
            </a:pPr>
            <a:r>
              <a:rPr sz="1500" b="1">
                <a:solidFill>
                  <a:srgbClr val="243D34"/>
                </a:solidFill>
                <a:latin typeface="Calibri"/>
              </a:rPr>
              <a:t>▪ Việt Nam</a:t>
            </a:r>
            <a:r>
              <a:rPr sz="1500">
                <a:solidFill>
                  <a:srgbClr val="243D34"/>
                </a:solidFill>
                <a:latin typeface="Calibri"/>
              </a:rPr>
              <a:t> Pháp tấn công Đà Nẵng 1/9/1858; Hiệp ước Patơnốt 6/6/1884; Liên bang Đông Dương 17/10/1887; hai cuộc khai thác thuộc địa (1897-1914, 1919-1929).</a:t>
            </a:r>
          </a:p>
          <a:p>
            <a:pPr>
              <a:spcAft>
                <a:spcPts val="900"/>
              </a:spcAft>
            </a:pPr>
            <a:r>
              <a:rPr sz="1500" b="1">
                <a:solidFill>
                  <a:srgbClr val="243D34"/>
                </a:solidFill>
                <a:latin typeface="Calibri"/>
              </a:rPr>
              <a:t>▪ Phân hóa xã hội</a:t>
            </a:r>
            <a:r>
              <a:rPr sz="1500">
                <a:solidFill>
                  <a:srgbClr val="243D34"/>
                </a:solidFill>
                <a:latin typeface="Calibri"/>
              </a:rPr>
              <a:t> nông dân &gt;90% dân số; công nhân hơn 22 vạn (cuối 1929); mâu thuẫn chủ yếu: dân tộc Việt Nam &gt;&lt; thực dân Pháp và phong kiến phản động.</a:t>
            </a:r>
          </a:p>
        </p:txBody>
      </p:sp>
      <p:sp>
        <p:nvSpPr>
          <p:cNvPr id="8" name="Rounded Rectangle 7"/>
          <p:cNvSpPr/>
          <p:nvPr/>
        </p:nvSpPr>
        <p:spPr>
          <a:xfrm>
            <a:off x="6492240" y="1463040"/>
            <a:ext cx="5120640" cy="4480560"/>
          </a:xfrm>
          <a:prstGeom prst="roundRect">
            <a:avLst>
              <a:gd name="adj" fmla="val 8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554480"/>
            <a:ext cx="4754880" cy="365760"/>
          </a:xfrm>
          <a:prstGeom prst="rect">
            <a:avLst/>
          </a:prstGeom>
          <a:noFill/>
        </p:spPr>
        <p:txBody>
          <a:bodyPr wrap="square">
            <a:spAutoFit/>
          </a:bodyPr>
          <a:lstStyle/>
          <a:p>
            <a:pPr algn="l">
              <a:spcAft>
                <a:spcPts val="600"/>
              </a:spcAft>
            </a:pPr>
            <a:r>
              <a:rPr sz="1700" b="1">
                <a:solidFill>
                  <a:srgbClr val="285E4D"/>
                </a:solidFill>
                <a:latin typeface="Calibri"/>
              </a:rPr>
              <a:t>Các phong trào yêu nước đều thất bại</a:t>
            </a:r>
          </a:p>
        </p:txBody>
      </p:sp>
      <p:sp>
        <p:nvSpPr>
          <p:cNvPr id="10" name="TextBox 9"/>
          <p:cNvSpPr txBox="1"/>
          <p:nvPr/>
        </p:nvSpPr>
        <p:spPr>
          <a:xfrm>
            <a:off x="6675120" y="2011680"/>
            <a:ext cx="4754880" cy="3840480"/>
          </a:xfrm>
          <a:prstGeom prst="rect">
            <a:avLst/>
          </a:prstGeom>
          <a:noFill/>
        </p:spPr>
        <p:txBody>
          <a:bodyPr wrap="square">
            <a:spAutoFit/>
          </a:bodyPr>
          <a:lstStyle/>
          <a:p>
            <a:pPr>
              <a:spcAft>
                <a:spcPts val="900"/>
              </a:spcAft>
            </a:pPr>
            <a:r>
              <a:rPr sz="1400" b="1">
                <a:solidFill>
                  <a:srgbClr val="243D34"/>
                </a:solidFill>
                <a:latin typeface="Calibri"/>
              </a:rPr>
              <a:t>▪ Cần Vương (1885-1896)</a:t>
            </a:r>
            <a:r>
              <a:rPr sz="1400">
                <a:solidFill>
                  <a:srgbClr val="243D34"/>
                </a:solidFill>
                <a:latin typeface="Calibri"/>
              </a:rPr>
              <a:t> ngọn cờ phong kiến</a:t>
            </a:r>
          </a:p>
          <a:p>
            <a:pPr>
              <a:spcAft>
                <a:spcPts val="900"/>
              </a:spcAft>
            </a:pPr>
            <a:r>
              <a:rPr sz="1400" b="1">
                <a:solidFill>
                  <a:srgbClr val="243D34"/>
                </a:solidFill>
                <a:latin typeface="Calibri"/>
              </a:rPr>
              <a:t>▪ Yên Thế (Hoàng Hoa Thám)</a:t>
            </a:r>
            <a:r>
              <a:rPr sz="1400">
                <a:solidFill>
                  <a:srgbClr val="243D34"/>
                </a:solidFill>
                <a:latin typeface="Calibri"/>
              </a:rPr>
              <a:t> nặng “cốt cách phong kiến”</a:t>
            </a:r>
          </a:p>
          <a:p>
            <a:pPr>
              <a:spcAft>
                <a:spcPts val="900"/>
              </a:spcAft>
            </a:pPr>
            <a:r>
              <a:rPr sz="1400" b="1">
                <a:solidFill>
                  <a:srgbClr val="243D34"/>
                </a:solidFill>
                <a:latin typeface="Calibri"/>
              </a:rPr>
              <a:t>▪ Đông Du, Duy Tân</a:t>
            </a:r>
            <a:r>
              <a:rPr sz="1400">
                <a:solidFill>
                  <a:srgbClr val="243D34"/>
                </a:solidFill>
                <a:latin typeface="Calibri"/>
              </a:rPr>
              <a:t> bạo động / cải cách dựa vào Pháp</a:t>
            </a:r>
          </a:p>
          <a:p>
            <a:pPr>
              <a:spcAft>
                <a:spcPts val="900"/>
              </a:spcAft>
            </a:pPr>
            <a:r>
              <a:rPr sz="1400" b="1">
                <a:solidFill>
                  <a:srgbClr val="243D34"/>
                </a:solidFill>
                <a:latin typeface="Calibri"/>
              </a:rPr>
              <a:t>▪ Việt Nam Quốc dân Đảng, Yên Bái 2/1930</a:t>
            </a:r>
            <a:r>
              <a:rPr sz="1400">
                <a:solidFill>
                  <a:srgbClr val="243D34"/>
                </a:solidFill>
                <a:latin typeface="Calibri"/>
              </a:rPr>
              <a:t> manh động, ám sát cá nhân</a:t>
            </a:r>
          </a:p>
          <a:p>
            <a:pPr>
              <a:spcAft>
                <a:spcPts val="900"/>
              </a:spcAft>
            </a:pPr>
            <a:r>
              <a:rPr sz="1400" b="1">
                <a:solidFill>
                  <a:srgbClr val="243D34"/>
                </a:solidFill>
                <a:latin typeface="Calibri"/>
              </a:rPr>
              <a:t>▪ Nguyên nhân chung</a:t>
            </a:r>
            <a:r>
              <a:rPr sz="1400">
                <a:solidFill>
                  <a:srgbClr val="243D34"/>
                </a:solidFill>
                <a:latin typeface="Calibri"/>
              </a:rPr>
              <a:t> thiếu đường lối đúng và tổ chức vững mạnh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274320"/>
          </a:xfrm>
          <a:prstGeom prst="rect">
            <a:avLst/>
          </a:prstGeom>
          <a:noFill/>
        </p:spPr>
        <p:txBody>
          <a:bodyPr wrap="square">
            <a:spAutoFit/>
          </a:bodyPr>
          <a:lstStyle/>
          <a:p>
            <a:pPr algn="l">
              <a:spcAft>
                <a:spcPts val="600"/>
              </a:spcAft>
            </a:pPr>
            <a:r>
              <a:rPr sz="1200" b="1">
                <a:solidFill>
                  <a:srgbClr val="285E4D"/>
                </a:solidFill>
                <a:latin typeface="Calibri"/>
              </a:rPr>
              <a:t>CƠ SỞ LÝ LUẬN · GIÁO TRÌNH CHƯƠNG I, MỤC 2 (TR.49-58)</a:t>
            </a:r>
          </a:p>
        </p:txBody>
      </p:sp>
      <p:sp>
        <p:nvSpPr>
          <p:cNvPr id="4" name="TextBox 3"/>
          <p:cNvSpPr txBox="1"/>
          <p:nvPr/>
        </p:nvSpPr>
        <p:spPr>
          <a:xfrm>
            <a:off x="548640" y="548640"/>
            <a:ext cx="10972800" cy="822960"/>
          </a:xfrm>
          <a:prstGeom prst="rect">
            <a:avLst/>
          </a:prstGeom>
          <a:noFill/>
        </p:spPr>
        <p:txBody>
          <a:bodyPr wrap="square">
            <a:spAutoFit/>
          </a:bodyPr>
          <a:lstStyle/>
          <a:p>
            <a:pPr algn="l">
              <a:spcAft>
                <a:spcPts val="600"/>
              </a:spcAft>
            </a:pPr>
            <a:r>
              <a:rPr sz="3200" b="1">
                <a:solidFill>
                  <a:srgbClr val="243D34"/>
                </a:solidFill>
                <a:latin typeface="Cambria"/>
              </a:rPr>
              <a:t>Căn cứ 2: Nguyễn Ái Quốc chuẩn bị thành lập Đảng</a:t>
            </a:r>
          </a:p>
        </p:txBody>
      </p:sp>
      <p:sp>
        <p:nvSpPr>
          <p:cNvPr id="5" name="TextBox 4"/>
          <p:cNvSpPr txBox="1"/>
          <p:nvPr/>
        </p:nvSpPr>
        <p:spPr>
          <a:xfrm>
            <a:off x="548640" y="6446520"/>
            <a:ext cx="8229600" cy="274320"/>
          </a:xfrm>
          <a:prstGeom prst="rect">
            <a:avLst/>
          </a:prstGeom>
          <a:noFill/>
        </p:spPr>
        <p:txBody>
          <a:bodyPr wrap="square">
            <a:spAutoFit/>
          </a:bodyPr>
          <a:lstStyle/>
          <a:p>
            <a:pPr algn="l">
              <a:spcAft>
                <a:spcPts val="600"/>
              </a:spcAft>
            </a:pPr>
            <a:r>
              <a:rPr sz="1000" b="0">
                <a:solidFill>
                  <a:srgbClr val="66776E"/>
                </a:solidFill>
                <a:latin typeface="Calibri"/>
              </a:rPr>
              <a:t>VNR202 · Cá Ngựa Cách Mạng v2 · Fall 2026</a:t>
            </a:r>
          </a:p>
        </p:txBody>
      </p:sp>
      <p:sp>
        <p:nvSpPr>
          <p:cNvPr id="6" name="TextBox 5"/>
          <p:cNvSpPr txBox="1"/>
          <p:nvPr/>
        </p:nvSpPr>
        <p:spPr>
          <a:xfrm>
            <a:off x="10972800" y="6446520"/>
            <a:ext cx="731520" cy="274320"/>
          </a:xfrm>
          <a:prstGeom prst="rect">
            <a:avLst/>
          </a:prstGeom>
          <a:noFill/>
        </p:spPr>
        <p:txBody>
          <a:bodyPr wrap="square">
            <a:spAutoFit/>
          </a:bodyPr>
          <a:lstStyle/>
          <a:p>
            <a:pPr algn="r">
              <a:spcAft>
                <a:spcPts val="600"/>
              </a:spcAft>
            </a:pPr>
            <a:r>
              <a:rPr sz="1000" b="0">
                <a:solidFill>
                  <a:srgbClr val="66776E"/>
                </a:solidFill>
                <a:latin typeface="Calibri"/>
              </a:rPr>
              <a:t>4</a:t>
            </a:r>
          </a:p>
        </p:txBody>
      </p:sp>
      <p:sp>
        <p:nvSpPr>
          <p:cNvPr id="7" name="Rectangle 6"/>
          <p:cNvSpPr/>
          <p:nvPr/>
        </p:nvSpPr>
        <p:spPr>
          <a:xfrm>
            <a:off x="731520" y="2331720"/>
            <a:ext cx="10881360" cy="54864"/>
          </a:xfrm>
          <a:prstGeom prst="rect">
            <a:avLst/>
          </a:prstGeom>
          <a:solidFill>
            <a:srgbClr val="BF8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1560" y="2194560"/>
            <a:ext cx="329184" cy="329184"/>
          </a:xfrm>
          <a:prstGeom prst="ellipse">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91640"/>
            <a:ext cx="1188720" cy="365760"/>
          </a:xfrm>
          <a:prstGeom prst="rect">
            <a:avLst/>
          </a:prstGeom>
          <a:noFill/>
        </p:spPr>
        <p:txBody>
          <a:bodyPr wrap="square">
            <a:spAutoFit/>
          </a:bodyPr>
          <a:lstStyle/>
          <a:p>
            <a:pPr algn="ctr">
              <a:spcAft>
                <a:spcPts val="600"/>
              </a:spcAft>
            </a:pPr>
            <a:r>
              <a:rPr sz="1800" b="1">
                <a:solidFill>
                  <a:srgbClr val="285E4D"/>
                </a:solidFill>
                <a:latin typeface="Calibri"/>
              </a:rPr>
              <a:t>1911</a:t>
            </a:r>
          </a:p>
        </p:txBody>
      </p:sp>
      <p:sp>
        <p:nvSpPr>
          <p:cNvPr id="10" name="TextBox 9"/>
          <p:cNvSpPr txBox="1"/>
          <p:nvPr/>
        </p:nvSpPr>
        <p:spPr>
          <a:xfrm>
            <a:off x="411479" y="2697480"/>
            <a:ext cx="1645920" cy="822960"/>
          </a:xfrm>
          <a:prstGeom prst="rect">
            <a:avLst/>
          </a:prstGeom>
          <a:noFill/>
        </p:spPr>
        <p:txBody>
          <a:bodyPr wrap="square">
            <a:spAutoFit/>
          </a:bodyPr>
          <a:lstStyle/>
          <a:p>
            <a:pPr algn="ctr">
              <a:spcAft>
                <a:spcPts val="600"/>
              </a:spcAft>
            </a:pPr>
            <a:r>
              <a:rPr sz="1300" b="0">
                <a:solidFill>
                  <a:srgbClr val="243D34"/>
                </a:solidFill>
                <a:latin typeface="Calibri"/>
              </a:rPr>
              <a:t>Ra đi tìm</a:t>
            </a:r>
          </a:p>
          <a:p>
            <a:pPr algn="ctr">
              <a:spcAft>
                <a:spcPts val="600"/>
              </a:spcAft>
            </a:pPr>
            <a:r>
              <a:rPr sz="1300" b="0">
                <a:solidFill>
                  <a:srgbClr val="243D34"/>
                </a:solidFill>
                <a:latin typeface="Calibri"/>
              </a:rPr>
              <a:t>đường cứu nước</a:t>
            </a:r>
          </a:p>
        </p:txBody>
      </p:sp>
      <p:sp>
        <p:nvSpPr>
          <p:cNvPr id="11" name="Oval 10"/>
          <p:cNvSpPr/>
          <p:nvPr/>
        </p:nvSpPr>
        <p:spPr>
          <a:xfrm>
            <a:off x="2926080" y="2194560"/>
            <a:ext cx="329184" cy="329184"/>
          </a:xfrm>
          <a:prstGeom prst="ellipse">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4600" y="1691640"/>
            <a:ext cx="1188720" cy="365760"/>
          </a:xfrm>
          <a:prstGeom prst="rect">
            <a:avLst/>
          </a:prstGeom>
          <a:noFill/>
        </p:spPr>
        <p:txBody>
          <a:bodyPr wrap="square">
            <a:spAutoFit/>
          </a:bodyPr>
          <a:lstStyle/>
          <a:p>
            <a:pPr algn="ctr">
              <a:spcAft>
                <a:spcPts val="600"/>
              </a:spcAft>
            </a:pPr>
            <a:r>
              <a:rPr sz="1800" b="1">
                <a:solidFill>
                  <a:srgbClr val="285E4D"/>
                </a:solidFill>
                <a:latin typeface="Calibri"/>
              </a:rPr>
              <a:t>6/1919</a:t>
            </a:r>
          </a:p>
        </p:txBody>
      </p:sp>
      <p:sp>
        <p:nvSpPr>
          <p:cNvPr id="13" name="TextBox 12"/>
          <p:cNvSpPr txBox="1"/>
          <p:nvPr/>
        </p:nvSpPr>
        <p:spPr>
          <a:xfrm>
            <a:off x="2286000" y="2697480"/>
            <a:ext cx="1645920" cy="822960"/>
          </a:xfrm>
          <a:prstGeom prst="rect">
            <a:avLst/>
          </a:prstGeom>
          <a:noFill/>
        </p:spPr>
        <p:txBody>
          <a:bodyPr wrap="square">
            <a:spAutoFit/>
          </a:bodyPr>
          <a:lstStyle/>
          <a:p>
            <a:pPr algn="ctr">
              <a:spcAft>
                <a:spcPts val="600"/>
              </a:spcAft>
            </a:pPr>
            <a:r>
              <a:rPr sz="1300" b="0">
                <a:solidFill>
                  <a:srgbClr val="243D34"/>
                </a:solidFill>
                <a:latin typeface="Calibri"/>
              </a:rPr>
              <a:t>Yêu sách 8 điểm</a:t>
            </a:r>
          </a:p>
          <a:p>
            <a:pPr algn="ctr">
              <a:spcAft>
                <a:spcPts val="600"/>
              </a:spcAft>
            </a:pPr>
            <a:r>
              <a:rPr sz="1300" b="0">
                <a:solidFill>
                  <a:srgbClr val="243D34"/>
                </a:solidFill>
                <a:latin typeface="Calibri"/>
              </a:rPr>
              <a:t>tại Versailles</a:t>
            </a:r>
          </a:p>
        </p:txBody>
      </p:sp>
      <p:sp>
        <p:nvSpPr>
          <p:cNvPr id="14" name="Oval 13"/>
          <p:cNvSpPr/>
          <p:nvPr/>
        </p:nvSpPr>
        <p:spPr>
          <a:xfrm>
            <a:off x="4800600" y="2194560"/>
            <a:ext cx="329184" cy="329184"/>
          </a:xfrm>
          <a:prstGeom prst="ellipse">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691640"/>
            <a:ext cx="1188720" cy="365760"/>
          </a:xfrm>
          <a:prstGeom prst="rect">
            <a:avLst/>
          </a:prstGeom>
          <a:noFill/>
        </p:spPr>
        <p:txBody>
          <a:bodyPr wrap="square">
            <a:spAutoFit/>
          </a:bodyPr>
          <a:lstStyle/>
          <a:p>
            <a:pPr algn="ctr">
              <a:spcAft>
                <a:spcPts val="600"/>
              </a:spcAft>
            </a:pPr>
            <a:r>
              <a:rPr sz="1800" b="1">
                <a:solidFill>
                  <a:srgbClr val="285E4D"/>
                </a:solidFill>
                <a:latin typeface="Calibri"/>
              </a:rPr>
              <a:t>7/1920</a:t>
            </a:r>
          </a:p>
        </p:txBody>
      </p:sp>
      <p:sp>
        <p:nvSpPr>
          <p:cNvPr id="16" name="TextBox 15"/>
          <p:cNvSpPr txBox="1"/>
          <p:nvPr/>
        </p:nvSpPr>
        <p:spPr>
          <a:xfrm>
            <a:off x="4160520" y="2697480"/>
            <a:ext cx="1645920" cy="822960"/>
          </a:xfrm>
          <a:prstGeom prst="rect">
            <a:avLst/>
          </a:prstGeom>
          <a:noFill/>
        </p:spPr>
        <p:txBody>
          <a:bodyPr wrap="square">
            <a:spAutoFit/>
          </a:bodyPr>
          <a:lstStyle/>
          <a:p>
            <a:pPr algn="ctr">
              <a:spcAft>
                <a:spcPts val="600"/>
              </a:spcAft>
            </a:pPr>
            <a:r>
              <a:rPr sz="1300" b="0">
                <a:solidFill>
                  <a:srgbClr val="243D34"/>
                </a:solidFill>
                <a:latin typeface="Calibri"/>
              </a:rPr>
              <a:t>Đọc Luận cương</a:t>
            </a:r>
          </a:p>
          <a:p>
            <a:pPr algn="ctr">
              <a:spcAft>
                <a:spcPts val="600"/>
              </a:spcAft>
            </a:pPr>
            <a:r>
              <a:rPr sz="1300" b="0">
                <a:solidFill>
                  <a:srgbClr val="243D34"/>
                </a:solidFill>
                <a:latin typeface="Calibri"/>
              </a:rPr>
              <a:t>của Lênin</a:t>
            </a:r>
          </a:p>
        </p:txBody>
      </p:sp>
      <p:sp>
        <p:nvSpPr>
          <p:cNvPr id="17" name="Oval 16"/>
          <p:cNvSpPr/>
          <p:nvPr/>
        </p:nvSpPr>
        <p:spPr>
          <a:xfrm>
            <a:off x="6675120" y="2194560"/>
            <a:ext cx="329184" cy="329184"/>
          </a:xfrm>
          <a:prstGeom prst="ellipse">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1691640"/>
            <a:ext cx="1188720" cy="365760"/>
          </a:xfrm>
          <a:prstGeom prst="rect">
            <a:avLst/>
          </a:prstGeom>
          <a:noFill/>
        </p:spPr>
        <p:txBody>
          <a:bodyPr wrap="square">
            <a:spAutoFit/>
          </a:bodyPr>
          <a:lstStyle/>
          <a:p>
            <a:pPr algn="ctr">
              <a:spcAft>
                <a:spcPts val="600"/>
              </a:spcAft>
            </a:pPr>
            <a:r>
              <a:rPr sz="1800" b="1">
                <a:solidFill>
                  <a:srgbClr val="285E4D"/>
                </a:solidFill>
                <a:latin typeface="Calibri"/>
              </a:rPr>
              <a:t>12/1920</a:t>
            </a:r>
          </a:p>
        </p:txBody>
      </p:sp>
      <p:sp>
        <p:nvSpPr>
          <p:cNvPr id="19" name="TextBox 18"/>
          <p:cNvSpPr txBox="1"/>
          <p:nvPr/>
        </p:nvSpPr>
        <p:spPr>
          <a:xfrm>
            <a:off x="6035040" y="2697480"/>
            <a:ext cx="1645920" cy="822960"/>
          </a:xfrm>
          <a:prstGeom prst="rect">
            <a:avLst/>
          </a:prstGeom>
          <a:noFill/>
        </p:spPr>
        <p:txBody>
          <a:bodyPr wrap="square">
            <a:spAutoFit/>
          </a:bodyPr>
          <a:lstStyle/>
          <a:p>
            <a:pPr algn="ctr">
              <a:spcAft>
                <a:spcPts val="600"/>
              </a:spcAft>
            </a:pPr>
            <a:r>
              <a:rPr sz="1300" b="0">
                <a:solidFill>
                  <a:srgbClr val="243D34"/>
                </a:solidFill>
                <a:latin typeface="Calibri"/>
              </a:rPr>
              <a:t>Đại hội Tours:</a:t>
            </a:r>
          </a:p>
          <a:p>
            <a:pPr algn="ctr">
              <a:spcAft>
                <a:spcPts val="600"/>
              </a:spcAft>
            </a:pPr>
            <a:r>
              <a:rPr sz="1300" b="0">
                <a:solidFill>
                  <a:srgbClr val="243D34"/>
                </a:solidFill>
                <a:latin typeface="Calibri"/>
              </a:rPr>
              <a:t>tán thành QT III</a:t>
            </a:r>
          </a:p>
        </p:txBody>
      </p:sp>
      <p:sp>
        <p:nvSpPr>
          <p:cNvPr id="20" name="Oval 19"/>
          <p:cNvSpPr/>
          <p:nvPr/>
        </p:nvSpPr>
        <p:spPr>
          <a:xfrm>
            <a:off x="8549639" y="2194560"/>
            <a:ext cx="329184" cy="329184"/>
          </a:xfrm>
          <a:prstGeom prst="ellipse">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59" y="1691640"/>
            <a:ext cx="1188720" cy="365760"/>
          </a:xfrm>
          <a:prstGeom prst="rect">
            <a:avLst/>
          </a:prstGeom>
          <a:noFill/>
        </p:spPr>
        <p:txBody>
          <a:bodyPr wrap="square">
            <a:spAutoFit/>
          </a:bodyPr>
          <a:lstStyle/>
          <a:p>
            <a:pPr algn="ctr">
              <a:spcAft>
                <a:spcPts val="600"/>
              </a:spcAft>
            </a:pPr>
            <a:r>
              <a:rPr sz="1800" b="1">
                <a:solidFill>
                  <a:srgbClr val="285E4D"/>
                </a:solidFill>
                <a:latin typeface="Calibri"/>
              </a:rPr>
              <a:t>6/1925</a:t>
            </a:r>
          </a:p>
        </p:txBody>
      </p:sp>
      <p:sp>
        <p:nvSpPr>
          <p:cNvPr id="22" name="TextBox 21"/>
          <p:cNvSpPr txBox="1"/>
          <p:nvPr/>
        </p:nvSpPr>
        <p:spPr>
          <a:xfrm>
            <a:off x="7909559" y="2697480"/>
            <a:ext cx="1645920" cy="822960"/>
          </a:xfrm>
          <a:prstGeom prst="rect">
            <a:avLst/>
          </a:prstGeom>
          <a:noFill/>
        </p:spPr>
        <p:txBody>
          <a:bodyPr wrap="square">
            <a:spAutoFit/>
          </a:bodyPr>
          <a:lstStyle/>
          <a:p>
            <a:pPr algn="ctr">
              <a:spcAft>
                <a:spcPts val="600"/>
              </a:spcAft>
            </a:pPr>
            <a:r>
              <a:rPr sz="1300" b="0">
                <a:solidFill>
                  <a:srgbClr val="243D34"/>
                </a:solidFill>
                <a:latin typeface="Calibri"/>
              </a:rPr>
              <a:t>Hội VN Cách mạng</a:t>
            </a:r>
          </a:p>
          <a:p>
            <a:pPr algn="ctr">
              <a:spcAft>
                <a:spcPts val="600"/>
              </a:spcAft>
            </a:pPr>
            <a:r>
              <a:rPr sz="1300" b="0">
                <a:solidFill>
                  <a:srgbClr val="243D34"/>
                </a:solidFill>
                <a:latin typeface="Calibri"/>
              </a:rPr>
              <a:t>Thanh niên</a:t>
            </a:r>
          </a:p>
        </p:txBody>
      </p:sp>
      <p:sp>
        <p:nvSpPr>
          <p:cNvPr id="23" name="Oval 22"/>
          <p:cNvSpPr/>
          <p:nvPr/>
        </p:nvSpPr>
        <p:spPr>
          <a:xfrm>
            <a:off x="10424159" y="2194560"/>
            <a:ext cx="329184" cy="329184"/>
          </a:xfrm>
          <a:prstGeom prst="ellipse">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12680" y="1691640"/>
            <a:ext cx="1188720" cy="365760"/>
          </a:xfrm>
          <a:prstGeom prst="rect">
            <a:avLst/>
          </a:prstGeom>
          <a:noFill/>
        </p:spPr>
        <p:txBody>
          <a:bodyPr wrap="square">
            <a:spAutoFit/>
          </a:bodyPr>
          <a:lstStyle/>
          <a:p>
            <a:pPr algn="ctr">
              <a:spcAft>
                <a:spcPts val="600"/>
              </a:spcAft>
            </a:pPr>
            <a:r>
              <a:rPr sz="1800" b="1">
                <a:solidFill>
                  <a:srgbClr val="285E4D"/>
                </a:solidFill>
                <a:latin typeface="Calibri"/>
              </a:rPr>
              <a:t>1927</a:t>
            </a:r>
          </a:p>
        </p:txBody>
      </p:sp>
      <p:sp>
        <p:nvSpPr>
          <p:cNvPr id="25" name="TextBox 24"/>
          <p:cNvSpPr txBox="1"/>
          <p:nvPr/>
        </p:nvSpPr>
        <p:spPr>
          <a:xfrm>
            <a:off x="9784080" y="2697480"/>
            <a:ext cx="1645920" cy="822960"/>
          </a:xfrm>
          <a:prstGeom prst="rect">
            <a:avLst/>
          </a:prstGeom>
          <a:noFill/>
        </p:spPr>
        <p:txBody>
          <a:bodyPr wrap="square">
            <a:spAutoFit/>
          </a:bodyPr>
          <a:lstStyle/>
          <a:p>
            <a:pPr algn="ctr">
              <a:spcAft>
                <a:spcPts val="600"/>
              </a:spcAft>
            </a:pPr>
            <a:r>
              <a:rPr sz="1300" b="0">
                <a:solidFill>
                  <a:srgbClr val="243D34"/>
                </a:solidFill>
                <a:latin typeface="Calibri"/>
              </a:rPr>
              <a:t>Đường</a:t>
            </a:r>
          </a:p>
          <a:p>
            <a:pPr algn="ctr">
              <a:spcAft>
                <a:spcPts val="600"/>
              </a:spcAft>
            </a:pPr>
            <a:r>
              <a:rPr sz="1300" b="0">
                <a:solidFill>
                  <a:srgbClr val="243D34"/>
                </a:solidFill>
                <a:latin typeface="Calibri"/>
              </a:rPr>
              <a:t>cách mệnh</a:t>
            </a:r>
          </a:p>
        </p:txBody>
      </p:sp>
      <p:sp>
        <p:nvSpPr>
          <p:cNvPr id="26" name="Rounded Rectangle 25"/>
          <p:cNvSpPr/>
          <p:nvPr/>
        </p:nvSpPr>
        <p:spPr>
          <a:xfrm>
            <a:off x="548640" y="3840480"/>
            <a:ext cx="3566160" cy="219456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950208"/>
            <a:ext cx="3200400" cy="457200"/>
          </a:xfrm>
          <a:prstGeom prst="rect">
            <a:avLst/>
          </a:prstGeom>
          <a:noFill/>
        </p:spPr>
        <p:txBody>
          <a:bodyPr wrap="square">
            <a:spAutoFit/>
          </a:bodyPr>
          <a:lstStyle/>
          <a:p>
            <a:pPr algn="l">
              <a:spcAft>
                <a:spcPts val="600"/>
              </a:spcAft>
            </a:pPr>
            <a:r>
              <a:rPr sz="1600" b="1">
                <a:solidFill>
                  <a:srgbClr val="FFFFFF"/>
                </a:solidFill>
                <a:latin typeface="Calibri"/>
              </a:rPr>
              <a:t>Tư tưởng</a:t>
            </a:r>
          </a:p>
        </p:txBody>
      </p:sp>
      <p:sp>
        <p:nvSpPr>
          <p:cNvPr id="28" name="TextBox 27"/>
          <p:cNvSpPr txBox="1"/>
          <p:nvPr/>
        </p:nvSpPr>
        <p:spPr>
          <a:xfrm>
            <a:off x="731520" y="4407408"/>
            <a:ext cx="3200400" cy="1554480"/>
          </a:xfrm>
          <a:prstGeom prst="rect">
            <a:avLst/>
          </a:prstGeom>
          <a:noFill/>
        </p:spPr>
        <p:txBody>
          <a:bodyPr wrap="square">
            <a:spAutoFit/>
          </a:bodyPr>
          <a:lstStyle/>
          <a:p>
            <a:pPr algn="l">
              <a:spcAft>
                <a:spcPts val="600"/>
              </a:spcAft>
            </a:pPr>
            <a:r>
              <a:rPr sz="1300" b="0">
                <a:solidFill>
                  <a:srgbClr val="FFFFFF"/>
                </a:solidFill>
                <a:latin typeface="Calibri"/>
              </a:rPr>
              <a:t>Báo Le Paria, Thanh niên; tố cáo chủ nghĩa thực dân; truyền bá chủ nghĩa Mác - Lênin vào phong trào công nhân và yêu nước.</a:t>
            </a:r>
          </a:p>
        </p:txBody>
      </p:sp>
      <p:sp>
        <p:nvSpPr>
          <p:cNvPr id="29" name="Rounded Rectangle 28"/>
          <p:cNvSpPr/>
          <p:nvPr/>
        </p:nvSpPr>
        <p:spPr>
          <a:xfrm>
            <a:off x="4297680" y="3840480"/>
            <a:ext cx="3566160" cy="2194560"/>
          </a:xfrm>
          <a:prstGeom prst="roundRect">
            <a:avLst>
              <a:gd name="adj" fmla="val 8000"/>
            </a:avLst>
          </a:prstGeom>
          <a:solidFill>
            <a:srgbClr val="BF8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3950208"/>
            <a:ext cx="3200400" cy="457200"/>
          </a:xfrm>
          <a:prstGeom prst="rect">
            <a:avLst/>
          </a:prstGeom>
          <a:noFill/>
        </p:spPr>
        <p:txBody>
          <a:bodyPr wrap="square">
            <a:spAutoFit/>
          </a:bodyPr>
          <a:lstStyle/>
          <a:p>
            <a:pPr algn="l">
              <a:spcAft>
                <a:spcPts val="600"/>
              </a:spcAft>
            </a:pPr>
            <a:r>
              <a:rPr sz="1600" b="1">
                <a:solidFill>
                  <a:srgbClr val="FFFFFF"/>
                </a:solidFill>
                <a:latin typeface="Calibri"/>
              </a:rPr>
              <a:t>Chính trị</a:t>
            </a:r>
          </a:p>
        </p:txBody>
      </p:sp>
      <p:sp>
        <p:nvSpPr>
          <p:cNvPr id="31" name="TextBox 30"/>
          <p:cNvSpPr txBox="1"/>
          <p:nvPr/>
        </p:nvSpPr>
        <p:spPr>
          <a:xfrm>
            <a:off x="4480560" y="4407408"/>
            <a:ext cx="3200400" cy="1554480"/>
          </a:xfrm>
          <a:prstGeom prst="rect">
            <a:avLst/>
          </a:prstGeom>
          <a:noFill/>
        </p:spPr>
        <p:txBody>
          <a:bodyPr wrap="square">
            <a:spAutoFit/>
          </a:bodyPr>
          <a:lstStyle/>
          <a:p>
            <a:pPr algn="l">
              <a:spcAft>
                <a:spcPts val="600"/>
              </a:spcAft>
            </a:pPr>
            <a:r>
              <a:rPr sz="1300" b="0">
                <a:solidFill>
                  <a:srgbClr val="FFFFFF"/>
                </a:solidFill>
                <a:latin typeface="Calibri"/>
              </a:rPr>
              <a:t>Cách mạng giải phóng dân tộc là một bộ phận của cách mạng vô sản thế giới; công - nông là gốc của cách mệnh; cần có Đảng cách mệnh.</a:t>
            </a:r>
          </a:p>
        </p:txBody>
      </p:sp>
      <p:sp>
        <p:nvSpPr>
          <p:cNvPr id="32" name="Rounded Rectangle 31"/>
          <p:cNvSpPr/>
          <p:nvPr/>
        </p:nvSpPr>
        <p:spPr>
          <a:xfrm>
            <a:off x="8046720" y="3840480"/>
            <a:ext cx="3566160" cy="219456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3950208"/>
            <a:ext cx="3200400" cy="457200"/>
          </a:xfrm>
          <a:prstGeom prst="rect">
            <a:avLst/>
          </a:prstGeom>
          <a:noFill/>
        </p:spPr>
        <p:txBody>
          <a:bodyPr wrap="square">
            <a:spAutoFit/>
          </a:bodyPr>
          <a:lstStyle/>
          <a:p>
            <a:pPr algn="l">
              <a:spcAft>
                <a:spcPts val="600"/>
              </a:spcAft>
            </a:pPr>
            <a:r>
              <a:rPr sz="1600" b="1">
                <a:solidFill>
                  <a:srgbClr val="FFFFFF"/>
                </a:solidFill>
                <a:latin typeface="Calibri"/>
              </a:rPr>
              <a:t>Tổ chức</a:t>
            </a:r>
          </a:p>
        </p:txBody>
      </p:sp>
      <p:sp>
        <p:nvSpPr>
          <p:cNvPr id="34" name="TextBox 33"/>
          <p:cNvSpPr txBox="1"/>
          <p:nvPr/>
        </p:nvSpPr>
        <p:spPr>
          <a:xfrm>
            <a:off x="8229600" y="4407408"/>
            <a:ext cx="3200400" cy="1554480"/>
          </a:xfrm>
          <a:prstGeom prst="rect">
            <a:avLst/>
          </a:prstGeom>
          <a:noFill/>
        </p:spPr>
        <p:txBody>
          <a:bodyPr wrap="square">
            <a:spAutoFit/>
          </a:bodyPr>
          <a:lstStyle/>
          <a:p>
            <a:pPr algn="l">
              <a:spcAft>
                <a:spcPts val="600"/>
              </a:spcAft>
            </a:pPr>
            <a:r>
              <a:rPr sz="1300" b="0">
                <a:solidFill>
                  <a:srgbClr val="FFFFFF"/>
                </a:solidFill>
                <a:latin typeface="Calibri"/>
              </a:rPr>
              <a:t>Cộng sản đoàn (2/1925) → Hội VNCMTN (6/1925), 5 cấp tổ chức, hơn 10 lớp huấn luyện, báo Thanh niên (202 số), phong trào “Vô sản hóa”.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274320"/>
          </a:xfrm>
          <a:prstGeom prst="rect">
            <a:avLst/>
          </a:prstGeom>
          <a:noFill/>
        </p:spPr>
        <p:txBody>
          <a:bodyPr wrap="square">
            <a:spAutoFit/>
          </a:bodyPr>
          <a:lstStyle/>
          <a:p>
            <a:pPr algn="l">
              <a:spcAft>
                <a:spcPts val="600"/>
              </a:spcAft>
            </a:pPr>
            <a:r>
              <a:rPr sz="1200" b="1">
                <a:solidFill>
                  <a:srgbClr val="285E4D"/>
                </a:solidFill>
                <a:latin typeface="Calibri"/>
              </a:rPr>
              <a:t>CƠ SỞ LÝ LUẬN · GIÁO TRÌNH CHƯƠNG I, MỤC 3-4 (TR.58-70)</a:t>
            </a:r>
          </a:p>
        </p:txBody>
      </p:sp>
      <p:sp>
        <p:nvSpPr>
          <p:cNvPr id="4" name="TextBox 3"/>
          <p:cNvSpPr txBox="1"/>
          <p:nvPr/>
        </p:nvSpPr>
        <p:spPr>
          <a:xfrm>
            <a:off x="548640" y="548640"/>
            <a:ext cx="10972800" cy="822960"/>
          </a:xfrm>
          <a:prstGeom prst="rect">
            <a:avLst/>
          </a:prstGeom>
          <a:noFill/>
        </p:spPr>
        <p:txBody>
          <a:bodyPr wrap="square">
            <a:spAutoFit/>
          </a:bodyPr>
          <a:lstStyle/>
          <a:p>
            <a:pPr algn="l">
              <a:spcAft>
                <a:spcPts val="600"/>
              </a:spcAft>
            </a:pPr>
            <a:r>
              <a:rPr sz="3200" b="1">
                <a:solidFill>
                  <a:srgbClr val="243D34"/>
                </a:solidFill>
                <a:latin typeface="Cambria"/>
              </a:rPr>
              <a:t>Căn cứ 3: Hội nghị 2/1930 và Cương lĩnh đầu tiên</a:t>
            </a:r>
          </a:p>
        </p:txBody>
      </p:sp>
      <p:sp>
        <p:nvSpPr>
          <p:cNvPr id="5" name="TextBox 4"/>
          <p:cNvSpPr txBox="1"/>
          <p:nvPr/>
        </p:nvSpPr>
        <p:spPr>
          <a:xfrm>
            <a:off x="548640" y="6446520"/>
            <a:ext cx="8229600" cy="274320"/>
          </a:xfrm>
          <a:prstGeom prst="rect">
            <a:avLst/>
          </a:prstGeom>
          <a:noFill/>
        </p:spPr>
        <p:txBody>
          <a:bodyPr wrap="square">
            <a:spAutoFit/>
          </a:bodyPr>
          <a:lstStyle/>
          <a:p>
            <a:pPr algn="l">
              <a:spcAft>
                <a:spcPts val="600"/>
              </a:spcAft>
            </a:pPr>
            <a:r>
              <a:rPr sz="1000" b="0">
                <a:solidFill>
                  <a:srgbClr val="66776E"/>
                </a:solidFill>
                <a:latin typeface="Calibri"/>
              </a:rPr>
              <a:t>VNR202 · Cá Ngựa Cách Mạng v2 · Fall 2026</a:t>
            </a:r>
          </a:p>
        </p:txBody>
      </p:sp>
      <p:sp>
        <p:nvSpPr>
          <p:cNvPr id="6" name="TextBox 5"/>
          <p:cNvSpPr txBox="1"/>
          <p:nvPr/>
        </p:nvSpPr>
        <p:spPr>
          <a:xfrm>
            <a:off x="10972800" y="6446520"/>
            <a:ext cx="731520" cy="274320"/>
          </a:xfrm>
          <a:prstGeom prst="rect">
            <a:avLst/>
          </a:prstGeom>
          <a:noFill/>
        </p:spPr>
        <p:txBody>
          <a:bodyPr wrap="square">
            <a:spAutoFit/>
          </a:bodyPr>
          <a:lstStyle/>
          <a:p>
            <a:pPr algn="r">
              <a:spcAft>
                <a:spcPts val="600"/>
              </a:spcAft>
            </a:pPr>
            <a:r>
              <a:rPr sz="1000" b="0">
                <a:solidFill>
                  <a:srgbClr val="66776E"/>
                </a:solidFill>
                <a:latin typeface="Calibri"/>
              </a:rPr>
              <a:t>5</a:t>
            </a:r>
          </a:p>
        </p:txBody>
      </p:sp>
      <p:sp>
        <p:nvSpPr>
          <p:cNvPr id="7" name="TextBox 6"/>
          <p:cNvSpPr txBox="1"/>
          <p:nvPr/>
        </p:nvSpPr>
        <p:spPr>
          <a:xfrm>
            <a:off x="548640" y="1463040"/>
            <a:ext cx="5394960" cy="4572000"/>
          </a:xfrm>
          <a:prstGeom prst="rect">
            <a:avLst/>
          </a:prstGeom>
          <a:noFill/>
        </p:spPr>
        <p:txBody>
          <a:bodyPr wrap="square">
            <a:spAutoFit/>
          </a:bodyPr>
          <a:lstStyle/>
          <a:p>
            <a:pPr>
              <a:spcAft>
                <a:spcPts val="900"/>
              </a:spcAft>
            </a:pPr>
            <a:r>
              <a:rPr sz="1500" b="1">
                <a:solidFill>
                  <a:srgbClr val="243D34"/>
                </a:solidFill>
                <a:latin typeface="Calibri"/>
              </a:rPr>
              <a:t>▪ 1929</a:t>
            </a:r>
            <a:r>
              <a:rPr sz="1500">
                <a:solidFill>
                  <a:srgbClr val="243D34"/>
                </a:solidFill>
                <a:latin typeface="Calibri"/>
              </a:rPr>
              <a:t> Đông Dương Cộng sản Đảng (17/6), An Nam Cộng sản Đảng (11/1929), Đông Dương Cộng sản Liên đoàn (9/1929) → phân tán, cần hợp nhất.</a:t>
            </a:r>
          </a:p>
          <a:p>
            <a:pPr>
              <a:spcAft>
                <a:spcPts val="900"/>
              </a:spcAft>
            </a:pPr>
            <a:r>
              <a:rPr sz="1500" b="1">
                <a:solidFill>
                  <a:srgbClr val="243D34"/>
                </a:solidFill>
                <a:latin typeface="Calibri"/>
              </a:rPr>
              <a:t>▪ Hội nghị 6/1-7/2/1930</a:t>
            </a:r>
            <a:r>
              <a:rPr sz="1500">
                <a:solidFill>
                  <a:srgbClr val="243D34"/>
                </a:solidFill>
                <a:latin typeface="Calibri"/>
              </a:rPr>
              <a:t> Cửu Long (Hồng Kông), Nguyễn Ái Quốc chủ trì với tư cách phái viên Quốc tế Cộng sản; 4 đại biểu của 2 tổ chức; định tên Đảng Cộng sản Việt Nam.</a:t>
            </a:r>
          </a:p>
          <a:p>
            <a:pPr>
              <a:spcAft>
                <a:spcPts val="900"/>
              </a:spcAft>
            </a:pPr>
            <a:r>
              <a:rPr sz="1500" b="1">
                <a:solidFill>
                  <a:srgbClr val="243D34"/>
                </a:solidFill>
                <a:latin typeface="Calibri"/>
              </a:rPr>
              <a:t>▪ Văn kiện</a:t>
            </a:r>
            <a:r>
              <a:rPr sz="1500">
                <a:solidFill>
                  <a:srgbClr val="243D34"/>
                </a:solidFill>
                <a:latin typeface="Calibri"/>
              </a:rPr>
              <a:t> Chánh cương vắn tắt, Sách lược vắn tắt, Chương trình tóm tắt, Điều lệ vắn tắt.</a:t>
            </a:r>
          </a:p>
          <a:p>
            <a:pPr>
              <a:spcAft>
                <a:spcPts val="900"/>
              </a:spcAft>
            </a:pPr>
            <a:r>
              <a:rPr sz="1500" b="1">
                <a:solidFill>
                  <a:srgbClr val="243D34"/>
                </a:solidFill>
                <a:latin typeface="Calibri"/>
              </a:rPr>
              <a:t>▪ Ngày 3/2</a:t>
            </a:r>
            <a:r>
              <a:rPr sz="1500">
                <a:solidFill>
                  <a:srgbClr val="243D34"/>
                </a:solidFill>
                <a:latin typeface="Calibri"/>
              </a:rPr>
              <a:t> được Đại hội III (9/1960) chọn làm ngày kỷ niệm thành lập Đảng.</a:t>
            </a:r>
          </a:p>
        </p:txBody>
      </p:sp>
      <p:sp>
        <p:nvSpPr>
          <p:cNvPr id="8" name="Rounded Rectangle 7"/>
          <p:cNvSpPr/>
          <p:nvPr/>
        </p:nvSpPr>
        <p:spPr>
          <a:xfrm>
            <a:off x="6217920" y="1463040"/>
            <a:ext cx="5394960" cy="141732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72768"/>
            <a:ext cx="5029200" cy="457200"/>
          </a:xfrm>
          <a:prstGeom prst="rect">
            <a:avLst/>
          </a:prstGeom>
          <a:noFill/>
        </p:spPr>
        <p:txBody>
          <a:bodyPr wrap="square">
            <a:spAutoFit/>
          </a:bodyPr>
          <a:lstStyle/>
          <a:p>
            <a:pPr algn="l">
              <a:spcAft>
                <a:spcPts val="600"/>
              </a:spcAft>
            </a:pPr>
            <a:r>
              <a:rPr sz="1500" b="1">
                <a:solidFill>
                  <a:srgbClr val="FFFFFF"/>
                </a:solidFill>
                <a:latin typeface="Calibri"/>
              </a:rPr>
              <a:t>Mục tiêu chiến lược</a:t>
            </a:r>
          </a:p>
        </p:txBody>
      </p:sp>
      <p:sp>
        <p:nvSpPr>
          <p:cNvPr id="10" name="TextBox 9"/>
          <p:cNvSpPr txBox="1"/>
          <p:nvPr/>
        </p:nvSpPr>
        <p:spPr>
          <a:xfrm>
            <a:off x="6400800" y="2029968"/>
            <a:ext cx="5029200" cy="777240"/>
          </a:xfrm>
          <a:prstGeom prst="rect">
            <a:avLst/>
          </a:prstGeom>
          <a:noFill/>
        </p:spPr>
        <p:txBody>
          <a:bodyPr wrap="square">
            <a:spAutoFit/>
          </a:bodyPr>
          <a:lstStyle/>
          <a:p>
            <a:pPr algn="l">
              <a:spcAft>
                <a:spcPts val="600"/>
              </a:spcAft>
            </a:pPr>
            <a:r>
              <a:rPr sz="1400" b="0">
                <a:solidFill>
                  <a:srgbClr val="FFFFFF"/>
                </a:solidFill>
                <a:latin typeface="Calibri"/>
              </a:rPr>
              <a:t>“Tư sản dân quyền c.m và thổ địa c.m để đi tới xã hội cộng sản”</a:t>
            </a:r>
          </a:p>
        </p:txBody>
      </p:sp>
      <p:sp>
        <p:nvSpPr>
          <p:cNvPr id="11" name="Rounded Rectangle 10"/>
          <p:cNvSpPr/>
          <p:nvPr/>
        </p:nvSpPr>
        <p:spPr>
          <a:xfrm>
            <a:off x="6217920" y="3017520"/>
            <a:ext cx="2606040" cy="1508760"/>
          </a:xfrm>
          <a:prstGeom prst="roundRect">
            <a:avLst>
              <a:gd name="adj" fmla="val 8000"/>
            </a:avLst>
          </a:prstGeom>
          <a:solidFill>
            <a:srgbClr val="BF8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127248"/>
            <a:ext cx="2240280" cy="457200"/>
          </a:xfrm>
          <a:prstGeom prst="rect">
            <a:avLst/>
          </a:prstGeom>
          <a:noFill/>
        </p:spPr>
        <p:txBody>
          <a:bodyPr wrap="square">
            <a:spAutoFit/>
          </a:bodyPr>
          <a:lstStyle/>
          <a:p>
            <a:pPr algn="l">
              <a:spcAft>
                <a:spcPts val="600"/>
              </a:spcAft>
            </a:pPr>
            <a:r>
              <a:rPr sz="1500" b="1">
                <a:solidFill>
                  <a:srgbClr val="FFFFFF"/>
                </a:solidFill>
                <a:latin typeface="Calibri"/>
              </a:rPr>
              <a:t>Nhiệm vụ</a:t>
            </a:r>
          </a:p>
        </p:txBody>
      </p:sp>
      <p:sp>
        <p:nvSpPr>
          <p:cNvPr id="13" name="TextBox 12"/>
          <p:cNvSpPr txBox="1"/>
          <p:nvPr/>
        </p:nvSpPr>
        <p:spPr>
          <a:xfrm>
            <a:off x="6400800" y="3584448"/>
            <a:ext cx="2240280" cy="868680"/>
          </a:xfrm>
          <a:prstGeom prst="rect">
            <a:avLst/>
          </a:prstGeom>
          <a:noFill/>
        </p:spPr>
        <p:txBody>
          <a:bodyPr wrap="square">
            <a:spAutoFit/>
          </a:bodyPr>
          <a:lstStyle/>
          <a:p>
            <a:pPr algn="l">
              <a:spcAft>
                <a:spcPts val="600"/>
              </a:spcAft>
            </a:pPr>
            <a:r>
              <a:rPr sz="1300" b="0">
                <a:solidFill>
                  <a:srgbClr val="FFFFFF"/>
                </a:solidFill>
                <a:latin typeface="Calibri"/>
              </a:rPr>
              <a:t>Chống đế quốc (hàng đầu) và chống phong kiến</a:t>
            </a:r>
          </a:p>
        </p:txBody>
      </p:sp>
      <p:sp>
        <p:nvSpPr>
          <p:cNvPr id="14" name="Rounded Rectangle 13"/>
          <p:cNvSpPr/>
          <p:nvPr/>
        </p:nvSpPr>
        <p:spPr>
          <a:xfrm>
            <a:off x="9006840" y="3017520"/>
            <a:ext cx="2606040" cy="1508760"/>
          </a:xfrm>
          <a:prstGeom prst="roundRect">
            <a:avLst>
              <a:gd name="adj" fmla="val 8000"/>
            </a:avLst>
          </a:prstGeom>
          <a:solidFill>
            <a:srgbClr val="BF8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19" y="3127248"/>
            <a:ext cx="2240280" cy="457200"/>
          </a:xfrm>
          <a:prstGeom prst="rect">
            <a:avLst/>
          </a:prstGeom>
          <a:noFill/>
        </p:spPr>
        <p:txBody>
          <a:bodyPr wrap="square">
            <a:spAutoFit/>
          </a:bodyPr>
          <a:lstStyle/>
          <a:p>
            <a:pPr algn="l">
              <a:spcAft>
                <a:spcPts val="600"/>
              </a:spcAft>
            </a:pPr>
            <a:r>
              <a:rPr sz="1500" b="1">
                <a:solidFill>
                  <a:srgbClr val="FFFFFF"/>
                </a:solidFill>
                <a:latin typeface="Calibri"/>
              </a:rPr>
              <a:t>Lực lượng</a:t>
            </a:r>
          </a:p>
        </p:txBody>
      </p:sp>
      <p:sp>
        <p:nvSpPr>
          <p:cNvPr id="16" name="TextBox 15"/>
          <p:cNvSpPr txBox="1"/>
          <p:nvPr/>
        </p:nvSpPr>
        <p:spPr>
          <a:xfrm>
            <a:off x="9189719" y="3584448"/>
            <a:ext cx="2240280" cy="868680"/>
          </a:xfrm>
          <a:prstGeom prst="rect">
            <a:avLst/>
          </a:prstGeom>
          <a:noFill/>
        </p:spPr>
        <p:txBody>
          <a:bodyPr wrap="square">
            <a:spAutoFit/>
          </a:bodyPr>
          <a:lstStyle/>
          <a:p>
            <a:pPr algn="l">
              <a:spcAft>
                <a:spcPts val="600"/>
              </a:spcAft>
            </a:pPr>
            <a:r>
              <a:rPr sz="1300" b="0">
                <a:solidFill>
                  <a:srgbClr val="FFFFFF"/>
                </a:solidFill>
                <a:latin typeface="Calibri"/>
              </a:rPr>
              <a:t>Công - nông là cơ bản, giai cấp công nhân lãnh đạo</a:t>
            </a:r>
          </a:p>
        </p:txBody>
      </p:sp>
      <p:sp>
        <p:nvSpPr>
          <p:cNvPr id="17" name="Rounded Rectangle 16"/>
          <p:cNvSpPr/>
          <p:nvPr/>
        </p:nvSpPr>
        <p:spPr>
          <a:xfrm>
            <a:off x="6217920" y="4663440"/>
            <a:ext cx="2606040" cy="137160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773168"/>
            <a:ext cx="2240280" cy="457200"/>
          </a:xfrm>
          <a:prstGeom prst="rect">
            <a:avLst/>
          </a:prstGeom>
          <a:noFill/>
        </p:spPr>
        <p:txBody>
          <a:bodyPr wrap="square">
            <a:spAutoFit/>
          </a:bodyPr>
          <a:lstStyle/>
          <a:p>
            <a:pPr algn="l">
              <a:spcAft>
                <a:spcPts val="600"/>
              </a:spcAft>
            </a:pPr>
            <a:r>
              <a:rPr sz="1500" b="1">
                <a:solidFill>
                  <a:srgbClr val="FFFFFF"/>
                </a:solidFill>
                <a:latin typeface="Calibri"/>
              </a:rPr>
              <a:t>Phương pháp</a:t>
            </a:r>
          </a:p>
        </p:txBody>
      </p:sp>
      <p:sp>
        <p:nvSpPr>
          <p:cNvPr id="19" name="TextBox 18"/>
          <p:cNvSpPr txBox="1"/>
          <p:nvPr/>
        </p:nvSpPr>
        <p:spPr>
          <a:xfrm>
            <a:off x="6400800" y="5230368"/>
            <a:ext cx="2240280" cy="731520"/>
          </a:xfrm>
          <a:prstGeom prst="rect">
            <a:avLst/>
          </a:prstGeom>
          <a:noFill/>
        </p:spPr>
        <p:txBody>
          <a:bodyPr wrap="square">
            <a:spAutoFit/>
          </a:bodyPr>
          <a:lstStyle/>
          <a:p>
            <a:pPr algn="l">
              <a:spcAft>
                <a:spcPts val="600"/>
              </a:spcAft>
            </a:pPr>
            <a:r>
              <a:rPr sz="1300" b="0">
                <a:solidFill>
                  <a:srgbClr val="FFFFFF"/>
                </a:solidFill>
                <a:latin typeface="Calibri"/>
              </a:rPr>
              <a:t>Bạo lực cách mạng của quần chúng</a:t>
            </a:r>
          </a:p>
        </p:txBody>
      </p:sp>
      <p:sp>
        <p:nvSpPr>
          <p:cNvPr id="20" name="Rounded Rectangle 19"/>
          <p:cNvSpPr/>
          <p:nvPr/>
        </p:nvSpPr>
        <p:spPr>
          <a:xfrm>
            <a:off x="9006840" y="4663440"/>
            <a:ext cx="2606040" cy="137160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9719" y="4773168"/>
            <a:ext cx="2240280" cy="457200"/>
          </a:xfrm>
          <a:prstGeom prst="rect">
            <a:avLst/>
          </a:prstGeom>
          <a:noFill/>
        </p:spPr>
        <p:txBody>
          <a:bodyPr wrap="square">
            <a:spAutoFit/>
          </a:bodyPr>
          <a:lstStyle/>
          <a:p>
            <a:pPr algn="l">
              <a:spcAft>
                <a:spcPts val="600"/>
              </a:spcAft>
            </a:pPr>
            <a:r>
              <a:rPr sz="1500" b="1">
                <a:solidFill>
                  <a:srgbClr val="FFFFFF"/>
                </a:solidFill>
                <a:latin typeface="Calibri"/>
              </a:rPr>
              <a:t>Ý nghĩa</a:t>
            </a:r>
          </a:p>
        </p:txBody>
      </p:sp>
      <p:sp>
        <p:nvSpPr>
          <p:cNvPr id="22" name="TextBox 21"/>
          <p:cNvSpPr txBox="1"/>
          <p:nvPr/>
        </p:nvSpPr>
        <p:spPr>
          <a:xfrm>
            <a:off x="9189719" y="5230368"/>
            <a:ext cx="2240280" cy="731520"/>
          </a:xfrm>
          <a:prstGeom prst="rect">
            <a:avLst/>
          </a:prstGeom>
          <a:noFill/>
        </p:spPr>
        <p:txBody>
          <a:bodyPr wrap="square">
            <a:spAutoFit/>
          </a:bodyPr>
          <a:lstStyle/>
          <a:p>
            <a:pPr algn="l">
              <a:spcAft>
                <a:spcPts val="600"/>
              </a:spcAft>
            </a:pPr>
            <a:r>
              <a:rPr sz="1300" b="0">
                <a:solidFill>
                  <a:srgbClr val="FFFFFF"/>
                </a:solidFill>
                <a:latin typeface="Calibri"/>
              </a:rPr>
              <a:t>Chấm dứt khủng hoảng đường lối; bước ngoặt vô cùng quan trọng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274320"/>
          </a:xfrm>
          <a:prstGeom prst="rect">
            <a:avLst/>
          </a:prstGeom>
          <a:noFill/>
        </p:spPr>
        <p:txBody>
          <a:bodyPr wrap="square">
            <a:spAutoFit/>
          </a:bodyPr>
          <a:lstStyle/>
          <a:p>
            <a:pPr algn="l">
              <a:spcAft>
                <a:spcPts val="600"/>
              </a:spcAft>
            </a:pPr>
            <a:r>
              <a:rPr sz="1200" b="1">
                <a:solidFill>
                  <a:srgbClr val="285E4D"/>
                </a:solidFill>
                <a:latin typeface="Calibri"/>
              </a:rPr>
              <a:t>SẢN PHẨM SÁNG TẠO</a:t>
            </a:r>
          </a:p>
        </p:txBody>
      </p:sp>
      <p:sp>
        <p:nvSpPr>
          <p:cNvPr id="4" name="TextBox 3"/>
          <p:cNvSpPr txBox="1"/>
          <p:nvPr/>
        </p:nvSpPr>
        <p:spPr>
          <a:xfrm>
            <a:off x="548640" y="548640"/>
            <a:ext cx="10972800" cy="822960"/>
          </a:xfrm>
          <a:prstGeom prst="rect">
            <a:avLst/>
          </a:prstGeom>
          <a:noFill/>
        </p:spPr>
        <p:txBody>
          <a:bodyPr wrap="square">
            <a:spAutoFit/>
          </a:bodyPr>
          <a:lstStyle/>
          <a:p>
            <a:pPr algn="l">
              <a:spcAft>
                <a:spcPts val="600"/>
              </a:spcAft>
            </a:pPr>
            <a:r>
              <a:rPr sz="3200" b="1">
                <a:solidFill>
                  <a:srgbClr val="243D34"/>
                </a:solidFill>
                <a:latin typeface="Cambria"/>
              </a:rPr>
              <a:t>Sản phẩm: Cá Ngựa Cách Mạng · luật chơi trong 30 giây</a:t>
            </a:r>
          </a:p>
        </p:txBody>
      </p:sp>
      <p:sp>
        <p:nvSpPr>
          <p:cNvPr id="5" name="TextBox 4"/>
          <p:cNvSpPr txBox="1"/>
          <p:nvPr/>
        </p:nvSpPr>
        <p:spPr>
          <a:xfrm>
            <a:off x="548640" y="6446520"/>
            <a:ext cx="8229600" cy="274320"/>
          </a:xfrm>
          <a:prstGeom prst="rect">
            <a:avLst/>
          </a:prstGeom>
          <a:noFill/>
        </p:spPr>
        <p:txBody>
          <a:bodyPr wrap="square">
            <a:spAutoFit/>
          </a:bodyPr>
          <a:lstStyle/>
          <a:p>
            <a:pPr algn="l">
              <a:spcAft>
                <a:spcPts val="600"/>
              </a:spcAft>
            </a:pPr>
            <a:r>
              <a:rPr sz="1000" b="0">
                <a:solidFill>
                  <a:srgbClr val="66776E"/>
                </a:solidFill>
                <a:latin typeface="Calibri"/>
              </a:rPr>
              <a:t>VNR202 · Cá Ngựa Cách Mạng v2 · Fall 2026</a:t>
            </a:r>
          </a:p>
        </p:txBody>
      </p:sp>
      <p:sp>
        <p:nvSpPr>
          <p:cNvPr id="6" name="TextBox 5"/>
          <p:cNvSpPr txBox="1"/>
          <p:nvPr/>
        </p:nvSpPr>
        <p:spPr>
          <a:xfrm>
            <a:off x="10972800" y="6446520"/>
            <a:ext cx="731520" cy="274320"/>
          </a:xfrm>
          <a:prstGeom prst="rect">
            <a:avLst/>
          </a:prstGeom>
          <a:noFill/>
        </p:spPr>
        <p:txBody>
          <a:bodyPr wrap="square">
            <a:spAutoFit/>
          </a:bodyPr>
          <a:lstStyle/>
          <a:p>
            <a:pPr algn="r">
              <a:spcAft>
                <a:spcPts val="600"/>
              </a:spcAft>
            </a:pPr>
            <a:r>
              <a:rPr sz="1000" b="0">
                <a:solidFill>
                  <a:srgbClr val="66776E"/>
                </a:solidFill>
                <a:latin typeface="Calibri"/>
              </a:rPr>
              <a:t>6</a:t>
            </a:r>
          </a:p>
        </p:txBody>
      </p:sp>
      <p:sp>
        <p:nvSpPr>
          <p:cNvPr id="7" name="Rounded Rectangle 6"/>
          <p:cNvSpPr/>
          <p:nvPr/>
        </p:nvSpPr>
        <p:spPr>
          <a:xfrm>
            <a:off x="548640" y="1554480"/>
            <a:ext cx="2057400" cy="246888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45920"/>
            <a:ext cx="1828800" cy="731520"/>
          </a:xfrm>
          <a:prstGeom prst="rect">
            <a:avLst/>
          </a:prstGeom>
          <a:noFill/>
        </p:spPr>
        <p:txBody>
          <a:bodyPr wrap="square">
            <a:spAutoFit/>
          </a:bodyPr>
          <a:lstStyle/>
          <a:p>
            <a:pPr algn="l">
              <a:spcAft>
                <a:spcPts val="600"/>
              </a:spcAft>
            </a:pPr>
            <a:r>
              <a:rPr sz="3600" b="1">
                <a:solidFill>
                  <a:srgbClr val="F7E7CF"/>
                </a:solidFill>
                <a:latin typeface="Cambria"/>
              </a:rPr>
              <a:t>1</a:t>
            </a:r>
          </a:p>
        </p:txBody>
      </p:sp>
      <p:sp>
        <p:nvSpPr>
          <p:cNvPr id="9" name="TextBox 8"/>
          <p:cNvSpPr txBox="1"/>
          <p:nvPr/>
        </p:nvSpPr>
        <p:spPr>
          <a:xfrm>
            <a:off x="685800" y="2423160"/>
            <a:ext cx="1828800" cy="457200"/>
          </a:xfrm>
          <a:prstGeom prst="rect">
            <a:avLst/>
          </a:prstGeom>
          <a:noFill/>
        </p:spPr>
        <p:txBody>
          <a:bodyPr wrap="square">
            <a:spAutoFit/>
          </a:bodyPr>
          <a:lstStyle/>
          <a:p>
            <a:pPr algn="l">
              <a:spcAft>
                <a:spcPts val="600"/>
              </a:spcAft>
            </a:pPr>
            <a:r>
              <a:rPr sz="1700" b="1">
                <a:solidFill>
                  <a:srgbClr val="FFFFFF"/>
                </a:solidFill>
                <a:latin typeface="Calibri"/>
              </a:rPr>
              <a:t>Đổ xúc xắc</a:t>
            </a:r>
          </a:p>
        </p:txBody>
      </p:sp>
      <p:sp>
        <p:nvSpPr>
          <p:cNvPr id="10" name="TextBox 9"/>
          <p:cNvSpPr txBox="1"/>
          <p:nvPr/>
        </p:nvSpPr>
        <p:spPr>
          <a:xfrm>
            <a:off x="685800" y="2926080"/>
            <a:ext cx="1783080" cy="1097280"/>
          </a:xfrm>
          <a:prstGeom prst="rect">
            <a:avLst/>
          </a:prstGeom>
          <a:noFill/>
        </p:spPr>
        <p:txBody>
          <a:bodyPr wrap="square">
            <a:spAutoFit/>
          </a:bodyPr>
          <a:lstStyle/>
          <a:p>
            <a:pPr algn="l">
              <a:spcAft>
                <a:spcPts val="600"/>
              </a:spcAft>
            </a:pPr>
            <a:r>
              <a:rPr sz="1300" b="0">
                <a:solidFill>
                  <a:srgbClr val="FFFFFF"/>
                </a:solidFill>
                <a:latin typeface="Calibri"/>
              </a:rPr>
              <a:t>Đội đến lượt đổ 1-6</a:t>
            </a:r>
          </a:p>
        </p:txBody>
      </p:sp>
      <p:sp>
        <p:nvSpPr>
          <p:cNvPr id="11" name="Rounded Rectangle 10"/>
          <p:cNvSpPr/>
          <p:nvPr/>
        </p:nvSpPr>
        <p:spPr>
          <a:xfrm>
            <a:off x="2788920" y="1554480"/>
            <a:ext cx="2057400" cy="246888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645920"/>
            <a:ext cx="1828800" cy="731520"/>
          </a:xfrm>
          <a:prstGeom prst="rect">
            <a:avLst/>
          </a:prstGeom>
          <a:noFill/>
        </p:spPr>
        <p:txBody>
          <a:bodyPr wrap="square">
            <a:spAutoFit/>
          </a:bodyPr>
          <a:lstStyle/>
          <a:p>
            <a:pPr algn="l">
              <a:spcAft>
                <a:spcPts val="600"/>
              </a:spcAft>
            </a:pPr>
            <a:r>
              <a:rPr sz="3600" b="1">
                <a:solidFill>
                  <a:srgbClr val="F7E7CF"/>
                </a:solidFill>
                <a:latin typeface="Cambria"/>
              </a:rPr>
              <a:t>2</a:t>
            </a:r>
          </a:p>
        </p:txBody>
      </p:sp>
      <p:sp>
        <p:nvSpPr>
          <p:cNvPr id="13" name="TextBox 12"/>
          <p:cNvSpPr txBox="1"/>
          <p:nvPr/>
        </p:nvSpPr>
        <p:spPr>
          <a:xfrm>
            <a:off x="2926080" y="2423160"/>
            <a:ext cx="1828800" cy="457200"/>
          </a:xfrm>
          <a:prstGeom prst="rect">
            <a:avLst/>
          </a:prstGeom>
          <a:noFill/>
        </p:spPr>
        <p:txBody>
          <a:bodyPr wrap="square">
            <a:spAutoFit/>
          </a:bodyPr>
          <a:lstStyle/>
          <a:p>
            <a:pPr algn="l">
              <a:spcAft>
                <a:spcPts val="600"/>
              </a:spcAft>
            </a:pPr>
            <a:r>
              <a:rPr sz="1700" b="1">
                <a:solidFill>
                  <a:srgbClr val="FFFFFF"/>
                </a:solidFill>
                <a:latin typeface="Calibri"/>
              </a:rPr>
              <a:t>Trả lời</a:t>
            </a:r>
          </a:p>
        </p:txBody>
      </p:sp>
      <p:sp>
        <p:nvSpPr>
          <p:cNvPr id="14" name="TextBox 13"/>
          <p:cNvSpPr txBox="1"/>
          <p:nvPr/>
        </p:nvSpPr>
        <p:spPr>
          <a:xfrm>
            <a:off x="2926080" y="2926080"/>
            <a:ext cx="1783080" cy="1097280"/>
          </a:xfrm>
          <a:prstGeom prst="rect">
            <a:avLst/>
          </a:prstGeom>
          <a:noFill/>
        </p:spPr>
        <p:txBody>
          <a:bodyPr wrap="square">
            <a:spAutoFit/>
          </a:bodyPr>
          <a:lstStyle/>
          <a:p>
            <a:pPr algn="l">
              <a:spcAft>
                <a:spcPts val="600"/>
              </a:spcAft>
            </a:pPr>
            <a:r>
              <a:rPr sz="1300" b="0">
                <a:solidFill>
                  <a:srgbClr val="FFFFFF"/>
                </a:solidFill>
                <a:latin typeface="Calibri"/>
              </a:rPr>
              <a:t>1 câu 4 đáp án, 30 giây, từ giáo trình</a:t>
            </a:r>
          </a:p>
        </p:txBody>
      </p:sp>
      <p:sp>
        <p:nvSpPr>
          <p:cNvPr id="15" name="Rounded Rectangle 14"/>
          <p:cNvSpPr/>
          <p:nvPr/>
        </p:nvSpPr>
        <p:spPr>
          <a:xfrm>
            <a:off x="5029200" y="1554480"/>
            <a:ext cx="2057400" cy="246888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60" y="1645920"/>
            <a:ext cx="1828800" cy="731520"/>
          </a:xfrm>
          <a:prstGeom prst="rect">
            <a:avLst/>
          </a:prstGeom>
          <a:noFill/>
        </p:spPr>
        <p:txBody>
          <a:bodyPr wrap="square">
            <a:spAutoFit/>
          </a:bodyPr>
          <a:lstStyle/>
          <a:p>
            <a:pPr algn="l">
              <a:spcAft>
                <a:spcPts val="600"/>
              </a:spcAft>
            </a:pPr>
            <a:r>
              <a:rPr sz="3600" b="1">
                <a:solidFill>
                  <a:srgbClr val="F7E7CF"/>
                </a:solidFill>
                <a:latin typeface="Cambria"/>
              </a:rPr>
              <a:t>3</a:t>
            </a:r>
          </a:p>
        </p:txBody>
      </p:sp>
      <p:sp>
        <p:nvSpPr>
          <p:cNvPr id="17" name="TextBox 16"/>
          <p:cNvSpPr txBox="1"/>
          <p:nvPr/>
        </p:nvSpPr>
        <p:spPr>
          <a:xfrm>
            <a:off x="5166360" y="2423160"/>
            <a:ext cx="1828800" cy="457200"/>
          </a:xfrm>
          <a:prstGeom prst="rect">
            <a:avLst/>
          </a:prstGeom>
          <a:noFill/>
        </p:spPr>
        <p:txBody>
          <a:bodyPr wrap="square">
            <a:spAutoFit/>
          </a:bodyPr>
          <a:lstStyle/>
          <a:p>
            <a:pPr algn="l">
              <a:spcAft>
                <a:spcPts val="600"/>
              </a:spcAft>
            </a:pPr>
            <a:r>
              <a:rPr sz="1700" b="1">
                <a:solidFill>
                  <a:srgbClr val="FFFFFF"/>
                </a:solidFill>
                <a:latin typeface="Calibri"/>
              </a:rPr>
              <a:t>Đúng</a:t>
            </a:r>
          </a:p>
        </p:txBody>
      </p:sp>
      <p:sp>
        <p:nvSpPr>
          <p:cNvPr id="18" name="TextBox 17"/>
          <p:cNvSpPr txBox="1"/>
          <p:nvPr/>
        </p:nvSpPr>
        <p:spPr>
          <a:xfrm>
            <a:off x="5166360" y="2926080"/>
            <a:ext cx="1783080" cy="1097280"/>
          </a:xfrm>
          <a:prstGeom prst="rect">
            <a:avLst/>
          </a:prstGeom>
          <a:noFill/>
        </p:spPr>
        <p:txBody>
          <a:bodyPr wrap="square">
            <a:spAutoFit/>
          </a:bodyPr>
          <a:lstStyle/>
          <a:p>
            <a:pPr algn="l">
              <a:spcAft>
                <a:spcPts val="600"/>
              </a:spcAft>
            </a:pPr>
            <a:r>
              <a:rPr sz="1300" b="0">
                <a:solidFill>
                  <a:srgbClr val="FFFFFF"/>
                </a:solidFill>
                <a:latin typeface="Calibri"/>
              </a:rPr>
              <a:t>Đi đủ ô + nhận 1 thẻ kỹ năng</a:t>
            </a:r>
          </a:p>
        </p:txBody>
      </p:sp>
      <p:sp>
        <p:nvSpPr>
          <p:cNvPr id="19" name="Rounded Rectangle 18"/>
          <p:cNvSpPr/>
          <p:nvPr/>
        </p:nvSpPr>
        <p:spPr>
          <a:xfrm>
            <a:off x="7269480" y="1554480"/>
            <a:ext cx="2057400" cy="2468880"/>
          </a:xfrm>
          <a:prstGeom prst="roundRect">
            <a:avLst>
              <a:gd name="adj" fmla="val 8000"/>
            </a:avLst>
          </a:prstGeom>
          <a:solidFill>
            <a:srgbClr val="A84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0" y="1645920"/>
            <a:ext cx="1828800" cy="731520"/>
          </a:xfrm>
          <a:prstGeom prst="rect">
            <a:avLst/>
          </a:prstGeom>
          <a:noFill/>
        </p:spPr>
        <p:txBody>
          <a:bodyPr wrap="square">
            <a:spAutoFit/>
          </a:bodyPr>
          <a:lstStyle/>
          <a:p>
            <a:pPr algn="l">
              <a:spcAft>
                <a:spcPts val="600"/>
              </a:spcAft>
            </a:pPr>
            <a:r>
              <a:rPr sz="3600" b="1">
                <a:solidFill>
                  <a:srgbClr val="F7E7CF"/>
                </a:solidFill>
                <a:latin typeface="Cambria"/>
              </a:rPr>
              <a:t>4</a:t>
            </a:r>
          </a:p>
        </p:txBody>
      </p:sp>
      <p:sp>
        <p:nvSpPr>
          <p:cNvPr id="21" name="TextBox 20"/>
          <p:cNvSpPr txBox="1"/>
          <p:nvPr/>
        </p:nvSpPr>
        <p:spPr>
          <a:xfrm>
            <a:off x="7406640" y="2423160"/>
            <a:ext cx="1828800" cy="457200"/>
          </a:xfrm>
          <a:prstGeom prst="rect">
            <a:avLst/>
          </a:prstGeom>
          <a:noFill/>
        </p:spPr>
        <p:txBody>
          <a:bodyPr wrap="square">
            <a:spAutoFit/>
          </a:bodyPr>
          <a:lstStyle/>
          <a:p>
            <a:pPr algn="l">
              <a:spcAft>
                <a:spcPts val="600"/>
              </a:spcAft>
            </a:pPr>
            <a:r>
              <a:rPr sz="1700" b="1">
                <a:solidFill>
                  <a:srgbClr val="FFFFFF"/>
                </a:solidFill>
                <a:latin typeface="Calibri"/>
              </a:rPr>
              <a:t>Sai / hết giờ</a:t>
            </a:r>
          </a:p>
        </p:txBody>
      </p:sp>
      <p:sp>
        <p:nvSpPr>
          <p:cNvPr id="22" name="TextBox 21"/>
          <p:cNvSpPr txBox="1"/>
          <p:nvPr/>
        </p:nvSpPr>
        <p:spPr>
          <a:xfrm>
            <a:off x="7406640" y="2926080"/>
            <a:ext cx="1783080" cy="1097280"/>
          </a:xfrm>
          <a:prstGeom prst="rect">
            <a:avLst/>
          </a:prstGeom>
          <a:noFill/>
        </p:spPr>
        <p:txBody>
          <a:bodyPr wrap="square">
            <a:spAutoFit/>
          </a:bodyPr>
          <a:lstStyle/>
          <a:p>
            <a:pPr algn="l">
              <a:spcAft>
                <a:spcPts val="600"/>
              </a:spcAft>
            </a:pPr>
            <a:r>
              <a:rPr sz="1300" b="0">
                <a:solidFill>
                  <a:srgbClr val="FFFFFF"/>
                </a:solidFill>
                <a:latin typeface="Calibri"/>
              </a:rPr>
              <a:t>Vẫn đi tiếp, không có thẻ</a:t>
            </a:r>
          </a:p>
        </p:txBody>
      </p:sp>
      <p:sp>
        <p:nvSpPr>
          <p:cNvPr id="23" name="Rounded Rectangle 22"/>
          <p:cNvSpPr/>
          <p:nvPr/>
        </p:nvSpPr>
        <p:spPr>
          <a:xfrm>
            <a:off x="9509760" y="1554480"/>
            <a:ext cx="2057400" cy="246888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6920" y="1645920"/>
            <a:ext cx="1828800" cy="731520"/>
          </a:xfrm>
          <a:prstGeom prst="rect">
            <a:avLst/>
          </a:prstGeom>
          <a:noFill/>
        </p:spPr>
        <p:txBody>
          <a:bodyPr wrap="square">
            <a:spAutoFit/>
          </a:bodyPr>
          <a:lstStyle/>
          <a:p>
            <a:pPr algn="l">
              <a:spcAft>
                <a:spcPts val="600"/>
              </a:spcAft>
            </a:pPr>
            <a:r>
              <a:rPr sz="3600" b="1">
                <a:solidFill>
                  <a:srgbClr val="F7E7CF"/>
                </a:solidFill>
                <a:latin typeface="Cambria"/>
              </a:rPr>
              <a:t>5</a:t>
            </a:r>
          </a:p>
        </p:txBody>
      </p:sp>
      <p:sp>
        <p:nvSpPr>
          <p:cNvPr id="25" name="TextBox 24"/>
          <p:cNvSpPr txBox="1"/>
          <p:nvPr/>
        </p:nvSpPr>
        <p:spPr>
          <a:xfrm>
            <a:off x="9646920" y="2423160"/>
            <a:ext cx="1828800" cy="457200"/>
          </a:xfrm>
          <a:prstGeom prst="rect">
            <a:avLst/>
          </a:prstGeom>
          <a:noFill/>
        </p:spPr>
        <p:txBody>
          <a:bodyPr wrap="square">
            <a:spAutoFit/>
          </a:bodyPr>
          <a:lstStyle/>
          <a:p>
            <a:pPr algn="l">
              <a:spcAft>
                <a:spcPts val="600"/>
              </a:spcAft>
            </a:pPr>
            <a:r>
              <a:rPr sz="1700" b="1">
                <a:solidFill>
                  <a:srgbClr val="FFFFFF"/>
                </a:solidFill>
                <a:latin typeface="Calibri"/>
              </a:rPr>
              <a:t>Về đích</a:t>
            </a:r>
          </a:p>
        </p:txBody>
      </p:sp>
      <p:sp>
        <p:nvSpPr>
          <p:cNvPr id="26" name="TextBox 25"/>
          <p:cNvSpPr txBox="1"/>
          <p:nvPr/>
        </p:nvSpPr>
        <p:spPr>
          <a:xfrm>
            <a:off x="9646920" y="2926080"/>
            <a:ext cx="1783080" cy="1097280"/>
          </a:xfrm>
          <a:prstGeom prst="rect">
            <a:avLst/>
          </a:prstGeom>
          <a:noFill/>
        </p:spPr>
        <p:txBody>
          <a:bodyPr wrap="square">
            <a:spAutoFit/>
          </a:bodyPr>
          <a:lstStyle/>
          <a:p>
            <a:pPr algn="l">
              <a:spcAft>
                <a:spcPts val="600"/>
              </a:spcAft>
            </a:pPr>
            <a:r>
              <a:rPr sz="1300" b="0">
                <a:solidFill>
                  <a:srgbClr val="FFFFFF"/>
                </a:solidFill>
                <a:latin typeface="Calibri"/>
              </a:rPr>
              <a:t>Ai tới ĐÍCH 3/2/1930 trước thắng</a:t>
            </a:r>
          </a:p>
        </p:txBody>
      </p:sp>
      <p:sp>
        <p:nvSpPr>
          <p:cNvPr id="27" name="TextBox 26"/>
          <p:cNvSpPr txBox="1"/>
          <p:nvPr/>
        </p:nvSpPr>
        <p:spPr>
          <a:xfrm>
            <a:off x="548640" y="4389120"/>
            <a:ext cx="10972800" cy="1828800"/>
          </a:xfrm>
          <a:prstGeom prst="rect">
            <a:avLst/>
          </a:prstGeom>
          <a:noFill/>
        </p:spPr>
        <p:txBody>
          <a:bodyPr wrap="square">
            <a:spAutoFit/>
          </a:bodyPr>
          <a:lstStyle/>
          <a:p>
            <a:pPr>
              <a:spcAft>
                <a:spcPts val="900"/>
              </a:spcAft>
            </a:pPr>
            <a:r>
              <a:rPr sz="1500" b="1">
                <a:solidFill>
                  <a:srgbClr val="243D34"/>
                </a:solidFill>
                <a:latin typeface="Calibri"/>
              </a:rPr>
              <a:t>▪ Bàn cờ</a:t>
            </a:r>
            <a:r>
              <a:rPr sz="1500">
                <a:solidFill>
                  <a:srgbClr val="243D34"/>
                </a:solidFill>
                <a:latin typeface="Calibri"/>
              </a:rPr>
              <a:t> vòng đua chung 24 ô + đường về nhà 4 ô an toàn; đáp xuống ô có ngựa đội khác (trừ ô ★) thì húc lùi 3 ô.</a:t>
            </a:r>
          </a:p>
          <a:p>
            <a:pPr>
              <a:spcAft>
                <a:spcPts val="900"/>
              </a:spcAft>
            </a:pPr>
            <a:r>
              <a:rPr sz="1500" b="1">
                <a:solidFill>
                  <a:srgbClr val="243D34"/>
                </a:solidFill>
                <a:latin typeface="Calibri"/>
              </a:rPr>
              <a:t>▪ Mốc lịch sử</a:t>
            </a:r>
            <a:r>
              <a:rPr sz="1500">
                <a:solidFill>
                  <a:srgbClr val="243D34"/>
                </a:solidFill>
                <a:latin typeface="Calibri"/>
              </a:rPr>
              <a:t> mỗi chặng ngựa đi qua bật một mốc (1858, 1911, 1920, 1925, 1929).</a:t>
            </a:r>
          </a:p>
          <a:p>
            <a:pPr>
              <a:spcAft>
                <a:spcPts val="900"/>
              </a:spcAft>
            </a:pPr>
            <a:r>
              <a:rPr sz="1500" b="1">
                <a:solidFill>
                  <a:srgbClr val="243D34"/>
                </a:solidFill>
                <a:latin typeface="Calibri"/>
              </a:rPr>
              <a:t>▪ Quy mô</a:t>
            </a:r>
            <a:r>
              <a:rPr sz="1500">
                <a:solidFill>
                  <a:srgbClr val="243D34"/>
                </a:solidFill>
                <a:latin typeface="Calibri"/>
              </a:rPr>
              <a:t> 2-6 đội, mỗi đội một thiết bị; màn chiếu riêng cho lớp; 20-30 người cùng xem/chơi.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274320"/>
          </a:xfrm>
          <a:prstGeom prst="rect">
            <a:avLst/>
          </a:prstGeom>
          <a:noFill/>
        </p:spPr>
        <p:txBody>
          <a:bodyPr wrap="square">
            <a:spAutoFit/>
          </a:bodyPr>
          <a:lstStyle/>
          <a:p>
            <a:pPr algn="l">
              <a:spcAft>
                <a:spcPts val="600"/>
              </a:spcAft>
            </a:pPr>
            <a:r>
              <a:rPr sz="1200" b="1">
                <a:solidFill>
                  <a:srgbClr val="285E4D"/>
                </a:solidFill>
                <a:latin typeface="Calibri"/>
              </a:rPr>
              <a:t>SẢN PHẨM SÁNG TẠO · DEMO</a:t>
            </a:r>
          </a:p>
        </p:txBody>
      </p:sp>
      <p:sp>
        <p:nvSpPr>
          <p:cNvPr id="4" name="TextBox 3"/>
          <p:cNvSpPr txBox="1"/>
          <p:nvPr/>
        </p:nvSpPr>
        <p:spPr>
          <a:xfrm>
            <a:off x="548640" y="548640"/>
            <a:ext cx="10972800" cy="822960"/>
          </a:xfrm>
          <a:prstGeom prst="rect">
            <a:avLst/>
          </a:prstGeom>
          <a:noFill/>
        </p:spPr>
        <p:txBody>
          <a:bodyPr wrap="square">
            <a:spAutoFit/>
          </a:bodyPr>
          <a:lstStyle/>
          <a:p>
            <a:pPr algn="l">
              <a:spcAft>
                <a:spcPts val="600"/>
              </a:spcAft>
            </a:pPr>
            <a:r>
              <a:rPr sz="3200" b="1">
                <a:solidFill>
                  <a:srgbClr val="243D34"/>
                </a:solidFill>
                <a:latin typeface="Cambria"/>
              </a:rPr>
              <a:t>DEMO trực tiếp: một lượt chơi</a:t>
            </a:r>
          </a:p>
        </p:txBody>
      </p:sp>
      <p:sp>
        <p:nvSpPr>
          <p:cNvPr id="5" name="TextBox 4"/>
          <p:cNvSpPr txBox="1"/>
          <p:nvPr/>
        </p:nvSpPr>
        <p:spPr>
          <a:xfrm>
            <a:off x="548640" y="6446520"/>
            <a:ext cx="8229600" cy="274320"/>
          </a:xfrm>
          <a:prstGeom prst="rect">
            <a:avLst/>
          </a:prstGeom>
          <a:noFill/>
        </p:spPr>
        <p:txBody>
          <a:bodyPr wrap="square">
            <a:spAutoFit/>
          </a:bodyPr>
          <a:lstStyle/>
          <a:p>
            <a:pPr algn="l">
              <a:spcAft>
                <a:spcPts val="600"/>
              </a:spcAft>
            </a:pPr>
            <a:r>
              <a:rPr sz="1000" b="0">
                <a:solidFill>
                  <a:srgbClr val="66776E"/>
                </a:solidFill>
                <a:latin typeface="Calibri"/>
              </a:rPr>
              <a:t>VNR202 · Cá Ngựa Cách Mạng v2 · Fall 2026</a:t>
            </a:r>
          </a:p>
        </p:txBody>
      </p:sp>
      <p:sp>
        <p:nvSpPr>
          <p:cNvPr id="6" name="TextBox 5"/>
          <p:cNvSpPr txBox="1"/>
          <p:nvPr/>
        </p:nvSpPr>
        <p:spPr>
          <a:xfrm>
            <a:off x="10972800" y="6446520"/>
            <a:ext cx="731520" cy="274320"/>
          </a:xfrm>
          <a:prstGeom prst="rect">
            <a:avLst/>
          </a:prstGeom>
          <a:noFill/>
        </p:spPr>
        <p:txBody>
          <a:bodyPr wrap="square">
            <a:spAutoFit/>
          </a:bodyPr>
          <a:lstStyle/>
          <a:p>
            <a:pPr algn="r">
              <a:spcAft>
                <a:spcPts val="600"/>
              </a:spcAft>
            </a:pPr>
            <a:r>
              <a:rPr sz="1000" b="0">
                <a:solidFill>
                  <a:srgbClr val="66776E"/>
                </a:solidFill>
                <a:latin typeface="Calibri"/>
              </a:rPr>
              <a:t>7</a:t>
            </a:r>
          </a:p>
        </p:txBody>
      </p:sp>
      <p:pic>
        <p:nvPicPr>
          <p:cNvPr id="7" name="Picture 6" descr="06-projector.png"/>
          <p:cNvPicPr>
            <a:picLocks noChangeAspect="1"/>
          </p:cNvPicPr>
          <p:nvPr/>
        </p:nvPicPr>
        <p:blipFill>
          <a:blip r:embed="rId3"/>
          <a:stretch>
            <a:fillRect/>
          </a:stretch>
        </p:blipFill>
        <p:spPr>
          <a:xfrm>
            <a:off x="548640" y="1463040"/>
            <a:ext cx="6217920" cy="3064546"/>
          </a:xfrm>
          <a:prstGeom prst="rect">
            <a:avLst/>
          </a:prstGeom>
        </p:spPr>
      </p:pic>
      <p:pic>
        <p:nvPicPr>
          <p:cNvPr id="8" name="Picture 7" descr="_crop_05-team-mobile.png"/>
          <p:cNvPicPr>
            <a:picLocks noChangeAspect="1"/>
          </p:cNvPicPr>
          <p:nvPr/>
        </p:nvPicPr>
        <p:blipFill>
          <a:blip r:embed="rId4"/>
          <a:stretch>
            <a:fillRect/>
          </a:stretch>
        </p:blipFill>
        <p:spPr>
          <a:xfrm>
            <a:off x="7955279" y="1371600"/>
            <a:ext cx="1757508" cy="4937760"/>
          </a:xfrm>
          <a:prstGeom prst="rect">
            <a:avLst/>
          </a:prstGeom>
        </p:spPr>
      </p:pic>
      <p:sp>
        <p:nvSpPr>
          <p:cNvPr id="9" name="TextBox 8"/>
          <p:cNvSpPr txBox="1"/>
          <p:nvPr/>
        </p:nvSpPr>
        <p:spPr>
          <a:xfrm>
            <a:off x="548640" y="5257800"/>
            <a:ext cx="6766560" cy="1097280"/>
          </a:xfrm>
          <a:prstGeom prst="rect">
            <a:avLst/>
          </a:prstGeom>
          <a:noFill/>
        </p:spPr>
        <p:txBody>
          <a:bodyPr wrap="square">
            <a:spAutoFit/>
          </a:bodyPr>
          <a:lstStyle/>
          <a:p>
            <a:pPr algn="l">
              <a:spcAft>
                <a:spcPts val="600"/>
              </a:spcAft>
            </a:pPr>
            <a:r>
              <a:rPr sz="1400" b="0">
                <a:solidFill>
                  <a:srgbClr val="243D34"/>
                </a:solidFill>
                <a:latin typeface="Calibri"/>
              </a:rPr>
              <a:t>Màn chiếu cho cả lớp: bàn cờ, lượt, câu hỏi, bảng xếp hạng, diễn biến.</a:t>
            </a:r>
          </a:p>
          <a:p>
            <a:pPr algn="l">
              <a:spcAft>
                <a:spcPts val="600"/>
              </a:spcAft>
            </a:pPr>
            <a:r>
              <a:rPr sz="1400" b="0">
                <a:solidFill>
                  <a:srgbClr val="243D34"/>
                </a:solidFill>
                <a:latin typeface="Calibri"/>
              </a:rPr>
              <a:t>Mỗi đội một điện thoại: câu hỏi, 4 đáp án, thẻ kỹ năng riêng (đối thủ chỉ thấy số thẻ).</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274320"/>
          </a:xfrm>
          <a:prstGeom prst="rect">
            <a:avLst/>
          </a:prstGeom>
          <a:noFill/>
        </p:spPr>
        <p:txBody>
          <a:bodyPr wrap="square">
            <a:spAutoFit/>
          </a:bodyPr>
          <a:lstStyle/>
          <a:p>
            <a:pPr algn="l">
              <a:spcAft>
                <a:spcPts val="600"/>
              </a:spcAft>
            </a:pPr>
            <a:r>
              <a:rPr sz="1200" b="1">
                <a:solidFill>
                  <a:srgbClr val="285E4D"/>
                </a:solidFill>
                <a:latin typeface="Calibri"/>
              </a:rPr>
              <a:t>SẢN PHẨM SÁNG TẠO · GẮN VỚI NỘI DUNG GIÁO TRÌNH</a:t>
            </a:r>
          </a:p>
        </p:txBody>
      </p:sp>
      <p:sp>
        <p:nvSpPr>
          <p:cNvPr id="4" name="TextBox 3"/>
          <p:cNvSpPr txBox="1"/>
          <p:nvPr/>
        </p:nvSpPr>
        <p:spPr>
          <a:xfrm>
            <a:off x="548640" y="548640"/>
            <a:ext cx="10972800" cy="822960"/>
          </a:xfrm>
          <a:prstGeom prst="rect">
            <a:avLst/>
          </a:prstGeom>
          <a:noFill/>
        </p:spPr>
        <p:txBody>
          <a:bodyPr wrap="square">
            <a:spAutoFit/>
          </a:bodyPr>
          <a:lstStyle/>
          <a:p>
            <a:pPr algn="l">
              <a:spcAft>
                <a:spcPts val="600"/>
              </a:spcAft>
            </a:pPr>
            <a:r>
              <a:rPr sz="3200" b="1">
                <a:solidFill>
                  <a:srgbClr val="243D34"/>
                </a:solidFill>
                <a:latin typeface="Cambria"/>
              </a:rPr>
              <a:t>10 thẻ kỹ năng: dùng lên đối thủ để chặn đường về đích</a:t>
            </a:r>
          </a:p>
        </p:txBody>
      </p:sp>
      <p:sp>
        <p:nvSpPr>
          <p:cNvPr id="5" name="TextBox 4"/>
          <p:cNvSpPr txBox="1"/>
          <p:nvPr/>
        </p:nvSpPr>
        <p:spPr>
          <a:xfrm>
            <a:off x="548640" y="6446520"/>
            <a:ext cx="8229600" cy="274320"/>
          </a:xfrm>
          <a:prstGeom prst="rect">
            <a:avLst/>
          </a:prstGeom>
          <a:noFill/>
        </p:spPr>
        <p:txBody>
          <a:bodyPr wrap="square">
            <a:spAutoFit/>
          </a:bodyPr>
          <a:lstStyle/>
          <a:p>
            <a:pPr algn="l">
              <a:spcAft>
                <a:spcPts val="600"/>
              </a:spcAft>
            </a:pPr>
            <a:r>
              <a:rPr sz="1000" b="0">
                <a:solidFill>
                  <a:srgbClr val="66776E"/>
                </a:solidFill>
                <a:latin typeface="Calibri"/>
              </a:rPr>
              <a:t>VNR202 · Cá Ngựa Cách Mạng v2 · Fall 2026</a:t>
            </a:r>
          </a:p>
        </p:txBody>
      </p:sp>
      <p:sp>
        <p:nvSpPr>
          <p:cNvPr id="6" name="TextBox 5"/>
          <p:cNvSpPr txBox="1"/>
          <p:nvPr/>
        </p:nvSpPr>
        <p:spPr>
          <a:xfrm>
            <a:off x="10972800" y="6446520"/>
            <a:ext cx="731520" cy="274320"/>
          </a:xfrm>
          <a:prstGeom prst="rect">
            <a:avLst/>
          </a:prstGeom>
          <a:noFill/>
        </p:spPr>
        <p:txBody>
          <a:bodyPr wrap="square">
            <a:spAutoFit/>
          </a:bodyPr>
          <a:lstStyle/>
          <a:p>
            <a:pPr algn="r">
              <a:spcAft>
                <a:spcPts val="600"/>
              </a:spcAft>
            </a:pPr>
            <a:r>
              <a:rPr sz="1000" b="0">
                <a:solidFill>
                  <a:srgbClr val="66776E"/>
                </a:solidFill>
                <a:latin typeface="Calibri"/>
              </a:rPr>
              <a:t>8</a:t>
            </a:r>
          </a:p>
        </p:txBody>
      </p:sp>
      <p:sp>
        <p:nvSpPr>
          <p:cNvPr id="7" name="Rounded Rectangle 6"/>
          <p:cNvSpPr/>
          <p:nvPr/>
        </p:nvSpPr>
        <p:spPr>
          <a:xfrm>
            <a:off x="548640" y="1554480"/>
            <a:ext cx="2103120" cy="2286000"/>
          </a:xfrm>
          <a:prstGeom prst="roundRect">
            <a:avLst>
              <a:gd name="adj" fmla="val 8000"/>
            </a:avLst>
          </a:prstGeom>
          <a:solidFill>
            <a:srgbClr val="A84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645920"/>
            <a:ext cx="1920240" cy="640080"/>
          </a:xfrm>
          <a:prstGeom prst="rect">
            <a:avLst/>
          </a:prstGeom>
          <a:noFill/>
        </p:spPr>
        <p:txBody>
          <a:bodyPr wrap="square">
            <a:spAutoFit/>
          </a:bodyPr>
          <a:lstStyle/>
          <a:p>
            <a:pPr algn="l">
              <a:spcAft>
                <a:spcPts val="600"/>
              </a:spcAft>
            </a:pPr>
            <a:r>
              <a:rPr sz="1400" b="1">
                <a:solidFill>
                  <a:srgbClr val="FFFFFF"/>
                </a:solidFill>
                <a:latin typeface="Calibri"/>
              </a:rPr>
              <a:t>✂️ Chia Để Trị ×3</a:t>
            </a:r>
          </a:p>
        </p:txBody>
      </p:sp>
      <p:sp>
        <p:nvSpPr>
          <p:cNvPr id="9" name="TextBox 8"/>
          <p:cNvSpPr txBox="1"/>
          <p:nvPr/>
        </p:nvSpPr>
        <p:spPr>
          <a:xfrm>
            <a:off x="658368" y="2331720"/>
            <a:ext cx="1920240" cy="640080"/>
          </a:xfrm>
          <a:prstGeom prst="rect">
            <a:avLst/>
          </a:prstGeom>
          <a:noFill/>
        </p:spPr>
        <p:txBody>
          <a:bodyPr wrap="square">
            <a:spAutoFit/>
          </a:bodyPr>
          <a:lstStyle/>
          <a:p>
            <a:pPr algn="l">
              <a:spcAft>
                <a:spcPts val="600"/>
              </a:spcAft>
            </a:pPr>
            <a:r>
              <a:rPr sz="1300" b="1">
                <a:solidFill>
                  <a:srgbClr val="F7E7CF"/>
                </a:solidFill>
                <a:latin typeface="Calibri"/>
              </a:rPr>
              <a:t>Đối thủ mất lượt kế tiếp</a:t>
            </a:r>
          </a:p>
        </p:txBody>
      </p:sp>
      <p:sp>
        <p:nvSpPr>
          <p:cNvPr id="10" name="TextBox 9"/>
          <p:cNvSpPr txBox="1"/>
          <p:nvPr/>
        </p:nvSpPr>
        <p:spPr>
          <a:xfrm>
            <a:off x="658368" y="2926080"/>
            <a:ext cx="1920240" cy="868680"/>
          </a:xfrm>
          <a:prstGeom prst="rect">
            <a:avLst/>
          </a:prstGeom>
          <a:noFill/>
        </p:spPr>
        <p:txBody>
          <a:bodyPr wrap="square">
            <a:spAutoFit/>
          </a:bodyPr>
          <a:lstStyle/>
          <a:p>
            <a:pPr algn="l">
              <a:spcAft>
                <a:spcPts val="600"/>
              </a:spcAft>
            </a:pPr>
            <a:r>
              <a:rPr sz="1100" b="0">
                <a:solidFill>
                  <a:srgbClr val="FFFFFF"/>
                </a:solidFill>
                <a:latin typeface="Calibri"/>
              </a:rPr>
              <a:t>Pháp chia ba kỳ</a:t>
            </a:r>
          </a:p>
        </p:txBody>
      </p:sp>
      <p:sp>
        <p:nvSpPr>
          <p:cNvPr id="11" name="Rounded Rectangle 10"/>
          <p:cNvSpPr/>
          <p:nvPr/>
        </p:nvSpPr>
        <p:spPr>
          <a:xfrm>
            <a:off x="2788920" y="1554480"/>
            <a:ext cx="2103120" cy="2286000"/>
          </a:xfrm>
          <a:prstGeom prst="roundRect">
            <a:avLst>
              <a:gd name="adj" fmla="val 8000"/>
            </a:avLst>
          </a:prstGeom>
          <a:solidFill>
            <a:srgbClr val="A84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98648" y="1645920"/>
            <a:ext cx="1920240" cy="640080"/>
          </a:xfrm>
          <a:prstGeom prst="rect">
            <a:avLst/>
          </a:prstGeom>
          <a:noFill/>
        </p:spPr>
        <p:txBody>
          <a:bodyPr wrap="square">
            <a:spAutoFit/>
          </a:bodyPr>
          <a:lstStyle/>
          <a:p>
            <a:pPr algn="l">
              <a:spcAft>
                <a:spcPts val="600"/>
              </a:spcAft>
            </a:pPr>
            <a:r>
              <a:rPr sz="1400" b="1">
                <a:solidFill>
                  <a:srgbClr val="FFFFFF"/>
                </a:solidFill>
                <a:latin typeface="Calibri"/>
              </a:rPr>
              <a:t>🚧 Thuế Khóa Nặng Nề ×3</a:t>
            </a:r>
          </a:p>
        </p:txBody>
      </p:sp>
      <p:sp>
        <p:nvSpPr>
          <p:cNvPr id="13" name="TextBox 12"/>
          <p:cNvSpPr txBox="1"/>
          <p:nvPr/>
        </p:nvSpPr>
        <p:spPr>
          <a:xfrm>
            <a:off x="2898648" y="2331720"/>
            <a:ext cx="1920240" cy="640080"/>
          </a:xfrm>
          <a:prstGeom prst="rect">
            <a:avLst/>
          </a:prstGeom>
          <a:noFill/>
        </p:spPr>
        <p:txBody>
          <a:bodyPr wrap="square">
            <a:spAutoFit/>
          </a:bodyPr>
          <a:lstStyle/>
          <a:p>
            <a:pPr algn="l">
              <a:spcAft>
                <a:spcPts val="600"/>
              </a:spcAft>
            </a:pPr>
            <a:r>
              <a:rPr sz="1300" b="1">
                <a:solidFill>
                  <a:srgbClr val="F7E7CF"/>
                </a:solidFill>
                <a:latin typeface="Calibri"/>
              </a:rPr>
              <a:t>Đối thủ đi tối đa 2 bước</a:t>
            </a:r>
          </a:p>
        </p:txBody>
      </p:sp>
      <p:sp>
        <p:nvSpPr>
          <p:cNvPr id="14" name="TextBox 13"/>
          <p:cNvSpPr txBox="1"/>
          <p:nvPr/>
        </p:nvSpPr>
        <p:spPr>
          <a:xfrm>
            <a:off x="2898648" y="2926080"/>
            <a:ext cx="1920240" cy="868680"/>
          </a:xfrm>
          <a:prstGeom prst="rect">
            <a:avLst/>
          </a:prstGeom>
          <a:noFill/>
        </p:spPr>
        <p:txBody>
          <a:bodyPr wrap="square">
            <a:spAutoFit/>
          </a:bodyPr>
          <a:lstStyle/>
          <a:p>
            <a:pPr algn="l">
              <a:spcAft>
                <a:spcPts val="600"/>
              </a:spcAft>
            </a:pPr>
            <a:r>
              <a:rPr sz="1100" b="0">
                <a:solidFill>
                  <a:srgbClr val="FFFFFF"/>
                </a:solidFill>
                <a:latin typeface="Calibri"/>
              </a:rPr>
              <a:t>Thuế khóa, bóc lột</a:t>
            </a:r>
          </a:p>
        </p:txBody>
      </p:sp>
      <p:sp>
        <p:nvSpPr>
          <p:cNvPr id="15" name="Rounded Rectangle 14"/>
          <p:cNvSpPr/>
          <p:nvPr/>
        </p:nvSpPr>
        <p:spPr>
          <a:xfrm>
            <a:off x="5029200" y="1554480"/>
            <a:ext cx="2103120" cy="2286000"/>
          </a:xfrm>
          <a:prstGeom prst="roundRect">
            <a:avLst>
              <a:gd name="adj" fmla="val 8000"/>
            </a:avLst>
          </a:prstGeom>
          <a:solidFill>
            <a:srgbClr val="A84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1645920"/>
            <a:ext cx="1920240" cy="640080"/>
          </a:xfrm>
          <a:prstGeom prst="rect">
            <a:avLst/>
          </a:prstGeom>
          <a:noFill/>
        </p:spPr>
        <p:txBody>
          <a:bodyPr wrap="square">
            <a:spAutoFit/>
          </a:bodyPr>
          <a:lstStyle/>
          <a:p>
            <a:pPr algn="l">
              <a:spcAft>
                <a:spcPts val="600"/>
              </a:spcAft>
            </a:pPr>
            <a:r>
              <a:rPr sz="1400" b="1">
                <a:solidFill>
                  <a:srgbClr val="FFFFFF"/>
                </a:solidFill>
                <a:latin typeface="Calibri"/>
              </a:rPr>
              <a:t>⏪ Đàn Áp Khởi Nghĩa ×3</a:t>
            </a:r>
          </a:p>
        </p:txBody>
      </p:sp>
      <p:sp>
        <p:nvSpPr>
          <p:cNvPr id="17" name="TextBox 16"/>
          <p:cNvSpPr txBox="1"/>
          <p:nvPr/>
        </p:nvSpPr>
        <p:spPr>
          <a:xfrm>
            <a:off x="5138928" y="2331720"/>
            <a:ext cx="1920240" cy="640080"/>
          </a:xfrm>
          <a:prstGeom prst="rect">
            <a:avLst/>
          </a:prstGeom>
          <a:noFill/>
        </p:spPr>
        <p:txBody>
          <a:bodyPr wrap="square">
            <a:spAutoFit/>
          </a:bodyPr>
          <a:lstStyle/>
          <a:p>
            <a:pPr algn="l">
              <a:spcAft>
                <a:spcPts val="600"/>
              </a:spcAft>
            </a:pPr>
            <a:r>
              <a:rPr sz="1300" b="1">
                <a:solidFill>
                  <a:srgbClr val="F7E7CF"/>
                </a:solidFill>
                <a:latin typeface="Calibri"/>
              </a:rPr>
              <a:t>Đối thủ lùi 4 ô</a:t>
            </a:r>
          </a:p>
        </p:txBody>
      </p:sp>
      <p:sp>
        <p:nvSpPr>
          <p:cNvPr id="18" name="TextBox 17"/>
          <p:cNvSpPr txBox="1"/>
          <p:nvPr/>
        </p:nvSpPr>
        <p:spPr>
          <a:xfrm>
            <a:off x="5138928" y="2926080"/>
            <a:ext cx="1920240" cy="868680"/>
          </a:xfrm>
          <a:prstGeom prst="rect">
            <a:avLst/>
          </a:prstGeom>
          <a:noFill/>
        </p:spPr>
        <p:txBody>
          <a:bodyPr wrap="square">
            <a:spAutoFit/>
          </a:bodyPr>
          <a:lstStyle/>
          <a:p>
            <a:pPr algn="l">
              <a:spcAft>
                <a:spcPts val="600"/>
              </a:spcAft>
            </a:pPr>
            <a:r>
              <a:rPr sz="1100" b="0">
                <a:solidFill>
                  <a:srgbClr val="FFFFFF"/>
                </a:solidFill>
                <a:latin typeface="Calibri"/>
              </a:rPr>
              <a:t>Yên Bái bị dập tắt</a:t>
            </a:r>
          </a:p>
        </p:txBody>
      </p:sp>
      <p:sp>
        <p:nvSpPr>
          <p:cNvPr id="19" name="Rounded Rectangle 18"/>
          <p:cNvSpPr/>
          <p:nvPr/>
        </p:nvSpPr>
        <p:spPr>
          <a:xfrm>
            <a:off x="7269480" y="1554480"/>
            <a:ext cx="2103120" cy="2286000"/>
          </a:xfrm>
          <a:prstGeom prst="roundRect">
            <a:avLst>
              <a:gd name="adj" fmla="val 8000"/>
            </a:avLst>
          </a:prstGeom>
          <a:solidFill>
            <a:srgbClr val="A84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79208" y="1645920"/>
            <a:ext cx="1920240" cy="640080"/>
          </a:xfrm>
          <a:prstGeom prst="rect">
            <a:avLst/>
          </a:prstGeom>
          <a:noFill/>
        </p:spPr>
        <p:txBody>
          <a:bodyPr wrap="square">
            <a:spAutoFit/>
          </a:bodyPr>
          <a:lstStyle/>
          <a:p>
            <a:pPr algn="l">
              <a:spcAft>
                <a:spcPts val="600"/>
              </a:spcAft>
            </a:pPr>
            <a:r>
              <a:rPr sz="1400" b="1">
                <a:solidFill>
                  <a:srgbClr val="FFFFFF"/>
                </a:solidFill>
                <a:latin typeface="Calibri"/>
              </a:rPr>
              <a:t>🔄 Hoán Đổi Vận Mệnh ×2</a:t>
            </a:r>
          </a:p>
        </p:txBody>
      </p:sp>
      <p:sp>
        <p:nvSpPr>
          <p:cNvPr id="21" name="TextBox 20"/>
          <p:cNvSpPr txBox="1"/>
          <p:nvPr/>
        </p:nvSpPr>
        <p:spPr>
          <a:xfrm>
            <a:off x="7379208" y="2331720"/>
            <a:ext cx="1920240" cy="640080"/>
          </a:xfrm>
          <a:prstGeom prst="rect">
            <a:avLst/>
          </a:prstGeom>
          <a:noFill/>
        </p:spPr>
        <p:txBody>
          <a:bodyPr wrap="square">
            <a:spAutoFit/>
          </a:bodyPr>
          <a:lstStyle/>
          <a:p>
            <a:pPr algn="l">
              <a:spcAft>
                <a:spcPts val="600"/>
              </a:spcAft>
            </a:pPr>
            <a:r>
              <a:rPr sz="1300" b="1">
                <a:solidFill>
                  <a:srgbClr val="F7E7CF"/>
                </a:solidFill>
                <a:latin typeface="Calibri"/>
              </a:rPr>
              <a:t>Đổi chỗ với ngựa khác</a:t>
            </a:r>
          </a:p>
        </p:txBody>
      </p:sp>
      <p:sp>
        <p:nvSpPr>
          <p:cNvPr id="22" name="TextBox 21"/>
          <p:cNvSpPr txBox="1"/>
          <p:nvPr/>
        </p:nvSpPr>
        <p:spPr>
          <a:xfrm>
            <a:off x="7379208" y="2926080"/>
            <a:ext cx="1920240" cy="868680"/>
          </a:xfrm>
          <a:prstGeom prst="rect">
            <a:avLst/>
          </a:prstGeom>
          <a:noFill/>
        </p:spPr>
        <p:txBody>
          <a:bodyPr wrap="square">
            <a:spAutoFit/>
          </a:bodyPr>
          <a:lstStyle/>
          <a:p>
            <a:pPr algn="l">
              <a:spcAft>
                <a:spcPts val="600"/>
              </a:spcAft>
            </a:pPr>
            <a:r>
              <a:rPr sz="1100" b="0">
                <a:solidFill>
                  <a:srgbClr val="FFFFFF"/>
                </a:solidFill>
                <a:latin typeface="Calibri"/>
              </a:rPr>
              <a:t>Đổi thay khi có đường lối đúng</a:t>
            </a:r>
          </a:p>
        </p:txBody>
      </p:sp>
      <p:sp>
        <p:nvSpPr>
          <p:cNvPr id="23" name="Rounded Rectangle 22"/>
          <p:cNvSpPr/>
          <p:nvPr/>
        </p:nvSpPr>
        <p:spPr>
          <a:xfrm>
            <a:off x="9509760" y="1554480"/>
            <a:ext cx="2103120" cy="2286000"/>
          </a:xfrm>
          <a:prstGeom prst="roundRect">
            <a:avLst>
              <a:gd name="adj" fmla="val 8000"/>
            </a:avLst>
          </a:prstGeom>
          <a:solidFill>
            <a:srgbClr val="A84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9488" y="1645920"/>
            <a:ext cx="1920240" cy="640080"/>
          </a:xfrm>
          <a:prstGeom prst="rect">
            <a:avLst/>
          </a:prstGeom>
          <a:noFill/>
        </p:spPr>
        <p:txBody>
          <a:bodyPr wrap="square">
            <a:spAutoFit/>
          </a:bodyPr>
          <a:lstStyle/>
          <a:p>
            <a:pPr algn="l">
              <a:spcAft>
                <a:spcPts val="600"/>
              </a:spcAft>
            </a:pPr>
            <a:r>
              <a:rPr sz="1400" b="1">
                <a:solidFill>
                  <a:srgbClr val="FFFFFF"/>
                </a:solidFill>
                <a:latin typeface="Calibri"/>
              </a:rPr>
              <a:t>🕵️ Mua Chuộc ×2</a:t>
            </a:r>
          </a:p>
        </p:txBody>
      </p:sp>
      <p:sp>
        <p:nvSpPr>
          <p:cNvPr id="25" name="TextBox 24"/>
          <p:cNvSpPr txBox="1"/>
          <p:nvPr/>
        </p:nvSpPr>
        <p:spPr>
          <a:xfrm>
            <a:off x="9619488" y="2331720"/>
            <a:ext cx="1920240" cy="640080"/>
          </a:xfrm>
          <a:prstGeom prst="rect">
            <a:avLst/>
          </a:prstGeom>
          <a:noFill/>
        </p:spPr>
        <p:txBody>
          <a:bodyPr wrap="square">
            <a:spAutoFit/>
          </a:bodyPr>
          <a:lstStyle/>
          <a:p>
            <a:pPr algn="l">
              <a:spcAft>
                <a:spcPts val="600"/>
              </a:spcAft>
            </a:pPr>
            <a:r>
              <a:rPr sz="1300" b="1">
                <a:solidFill>
                  <a:srgbClr val="F7E7CF"/>
                </a:solidFill>
                <a:latin typeface="Calibri"/>
              </a:rPr>
              <a:t>Lấy 1 thẻ của đối thủ</a:t>
            </a:r>
          </a:p>
        </p:txBody>
      </p:sp>
      <p:sp>
        <p:nvSpPr>
          <p:cNvPr id="26" name="TextBox 25"/>
          <p:cNvSpPr txBox="1"/>
          <p:nvPr/>
        </p:nvSpPr>
        <p:spPr>
          <a:xfrm>
            <a:off x="9619488" y="2926080"/>
            <a:ext cx="1920240" cy="868680"/>
          </a:xfrm>
          <a:prstGeom prst="rect">
            <a:avLst/>
          </a:prstGeom>
          <a:noFill/>
        </p:spPr>
        <p:txBody>
          <a:bodyPr wrap="square">
            <a:spAutoFit/>
          </a:bodyPr>
          <a:lstStyle/>
          <a:p>
            <a:pPr algn="l">
              <a:spcAft>
                <a:spcPts val="600"/>
              </a:spcAft>
            </a:pPr>
            <a:r>
              <a:rPr sz="1100" b="0">
                <a:solidFill>
                  <a:srgbClr val="FFFFFF"/>
                </a:solidFill>
                <a:latin typeface="Calibri"/>
              </a:rPr>
              <a:t>Sarraut mua chuộc Nguyễn Ái Quốc</a:t>
            </a:r>
          </a:p>
        </p:txBody>
      </p:sp>
      <p:sp>
        <p:nvSpPr>
          <p:cNvPr id="27" name="Rounded Rectangle 26"/>
          <p:cNvSpPr/>
          <p:nvPr/>
        </p:nvSpPr>
        <p:spPr>
          <a:xfrm>
            <a:off x="548640" y="4023360"/>
            <a:ext cx="2103120" cy="228600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114800"/>
            <a:ext cx="1920240" cy="640080"/>
          </a:xfrm>
          <a:prstGeom prst="rect">
            <a:avLst/>
          </a:prstGeom>
          <a:noFill/>
        </p:spPr>
        <p:txBody>
          <a:bodyPr wrap="square">
            <a:spAutoFit/>
          </a:bodyPr>
          <a:lstStyle/>
          <a:p>
            <a:pPr algn="l">
              <a:spcAft>
                <a:spcPts val="600"/>
              </a:spcAft>
            </a:pPr>
            <a:r>
              <a:rPr sz="1400" b="1">
                <a:solidFill>
                  <a:srgbClr val="FFFFFF"/>
                </a:solidFill>
                <a:latin typeface="Calibri"/>
              </a:rPr>
              <a:t>🚩 Đường Cách Mệnh ×3</a:t>
            </a:r>
          </a:p>
        </p:txBody>
      </p:sp>
      <p:sp>
        <p:nvSpPr>
          <p:cNvPr id="29" name="TextBox 28"/>
          <p:cNvSpPr txBox="1"/>
          <p:nvPr/>
        </p:nvSpPr>
        <p:spPr>
          <a:xfrm>
            <a:off x="658368" y="4800600"/>
            <a:ext cx="1920240" cy="640080"/>
          </a:xfrm>
          <a:prstGeom prst="rect">
            <a:avLst/>
          </a:prstGeom>
          <a:noFill/>
        </p:spPr>
        <p:txBody>
          <a:bodyPr wrap="square">
            <a:spAutoFit/>
          </a:bodyPr>
          <a:lstStyle/>
          <a:p>
            <a:pPr algn="l">
              <a:spcAft>
                <a:spcPts val="600"/>
              </a:spcAft>
            </a:pPr>
            <a:r>
              <a:rPr sz="1300" b="1">
                <a:solidFill>
                  <a:srgbClr val="F7E7CF"/>
                </a:solidFill>
                <a:latin typeface="Calibri"/>
              </a:rPr>
              <a:t>Lần đi sau +3 bước</a:t>
            </a:r>
          </a:p>
        </p:txBody>
      </p:sp>
      <p:sp>
        <p:nvSpPr>
          <p:cNvPr id="30" name="TextBox 29"/>
          <p:cNvSpPr txBox="1"/>
          <p:nvPr/>
        </p:nvSpPr>
        <p:spPr>
          <a:xfrm>
            <a:off x="658368" y="5394960"/>
            <a:ext cx="1920240" cy="868680"/>
          </a:xfrm>
          <a:prstGeom prst="rect">
            <a:avLst/>
          </a:prstGeom>
          <a:noFill/>
        </p:spPr>
        <p:txBody>
          <a:bodyPr wrap="square">
            <a:spAutoFit/>
          </a:bodyPr>
          <a:lstStyle/>
          <a:p>
            <a:pPr algn="l">
              <a:spcAft>
                <a:spcPts val="600"/>
              </a:spcAft>
            </a:pPr>
            <a:r>
              <a:rPr sz="1100" b="0">
                <a:solidFill>
                  <a:srgbClr val="FFFFFF"/>
                </a:solidFill>
                <a:latin typeface="Calibri"/>
              </a:rPr>
              <a:t>Tác phẩm 1927</a:t>
            </a:r>
          </a:p>
        </p:txBody>
      </p:sp>
      <p:sp>
        <p:nvSpPr>
          <p:cNvPr id="31" name="Rounded Rectangle 30"/>
          <p:cNvSpPr/>
          <p:nvPr/>
        </p:nvSpPr>
        <p:spPr>
          <a:xfrm>
            <a:off x="2788920" y="4023360"/>
            <a:ext cx="2103120" cy="228600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98648" y="4114800"/>
            <a:ext cx="1920240" cy="640080"/>
          </a:xfrm>
          <a:prstGeom prst="rect">
            <a:avLst/>
          </a:prstGeom>
          <a:noFill/>
        </p:spPr>
        <p:txBody>
          <a:bodyPr wrap="square">
            <a:spAutoFit/>
          </a:bodyPr>
          <a:lstStyle/>
          <a:p>
            <a:pPr algn="l">
              <a:spcAft>
                <a:spcPts val="600"/>
              </a:spcAft>
            </a:pPr>
            <a:r>
              <a:rPr sz="1400" b="1">
                <a:solidFill>
                  <a:srgbClr val="FFFFFF"/>
                </a:solidFill>
                <a:latin typeface="Calibri"/>
              </a:rPr>
              <a:t>🎲 Nhãn Quan Sắc Bén ×2</a:t>
            </a:r>
          </a:p>
        </p:txBody>
      </p:sp>
      <p:sp>
        <p:nvSpPr>
          <p:cNvPr id="33" name="TextBox 32"/>
          <p:cNvSpPr txBox="1"/>
          <p:nvPr/>
        </p:nvSpPr>
        <p:spPr>
          <a:xfrm>
            <a:off x="2898648" y="4800600"/>
            <a:ext cx="1920240" cy="640080"/>
          </a:xfrm>
          <a:prstGeom prst="rect">
            <a:avLst/>
          </a:prstGeom>
          <a:noFill/>
        </p:spPr>
        <p:txBody>
          <a:bodyPr wrap="square">
            <a:spAutoFit/>
          </a:bodyPr>
          <a:lstStyle/>
          <a:p>
            <a:pPr algn="l">
              <a:spcAft>
                <a:spcPts val="600"/>
              </a:spcAft>
            </a:pPr>
            <a:r>
              <a:rPr sz="1300" b="1">
                <a:solidFill>
                  <a:srgbClr val="F7E7CF"/>
                </a:solidFill>
                <a:latin typeface="Calibri"/>
              </a:rPr>
              <a:t>Đổ 2 xúc xắc lấy số cao</a:t>
            </a:r>
          </a:p>
        </p:txBody>
      </p:sp>
      <p:sp>
        <p:nvSpPr>
          <p:cNvPr id="34" name="TextBox 33"/>
          <p:cNvSpPr txBox="1"/>
          <p:nvPr/>
        </p:nvSpPr>
        <p:spPr>
          <a:xfrm>
            <a:off x="2898648" y="5394960"/>
            <a:ext cx="1920240" cy="868680"/>
          </a:xfrm>
          <a:prstGeom prst="rect">
            <a:avLst/>
          </a:prstGeom>
          <a:noFill/>
        </p:spPr>
        <p:txBody>
          <a:bodyPr wrap="square">
            <a:spAutoFit/>
          </a:bodyPr>
          <a:lstStyle/>
          <a:p>
            <a:pPr algn="l">
              <a:spcAft>
                <a:spcPts val="600"/>
              </a:spcAft>
            </a:pPr>
            <a:r>
              <a:rPr sz="1100" b="0">
                <a:solidFill>
                  <a:srgbClr val="FFFFFF"/>
                </a:solidFill>
                <a:latin typeface="Calibri"/>
              </a:rPr>
              <a:t>Nhãn quan chính trị</a:t>
            </a:r>
          </a:p>
        </p:txBody>
      </p:sp>
      <p:sp>
        <p:nvSpPr>
          <p:cNvPr id="35" name="Rounded Rectangle 34"/>
          <p:cNvSpPr/>
          <p:nvPr/>
        </p:nvSpPr>
        <p:spPr>
          <a:xfrm>
            <a:off x="5029200" y="4023360"/>
            <a:ext cx="2103120" cy="228600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38928" y="4114800"/>
            <a:ext cx="1920240" cy="640080"/>
          </a:xfrm>
          <a:prstGeom prst="rect">
            <a:avLst/>
          </a:prstGeom>
          <a:noFill/>
        </p:spPr>
        <p:txBody>
          <a:bodyPr wrap="square">
            <a:spAutoFit/>
          </a:bodyPr>
          <a:lstStyle/>
          <a:p>
            <a:pPr algn="l">
              <a:spcAft>
                <a:spcPts val="600"/>
              </a:spcAft>
            </a:pPr>
            <a:r>
              <a:rPr sz="1400" b="1">
                <a:solidFill>
                  <a:srgbClr val="FFFFFF"/>
                </a:solidFill>
                <a:latin typeface="Calibri"/>
              </a:rPr>
              <a:t>🛡️ Chủ Nghĩa Làm Cốt ×3</a:t>
            </a:r>
          </a:p>
        </p:txBody>
      </p:sp>
      <p:sp>
        <p:nvSpPr>
          <p:cNvPr id="37" name="TextBox 36"/>
          <p:cNvSpPr txBox="1"/>
          <p:nvPr/>
        </p:nvSpPr>
        <p:spPr>
          <a:xfrm>
            <a:off x="5138928" y="4800600"/>
            <a:ext cx="1920240" cy="640080"/>
          </a:xfrm>
          <a:prstGeom prst="rect">
            <a:avLst/>
          </a:prstGeom>
          <a:noFill/>
        </p:spPr>
        <p:txBody>
          <a:bodyPr wrap="square">
            <a:spAutoFit/>
          </a:bodyPr>
          <a:lstStyle/>
          <a:p>
            <a:pPr algn="l">
              <a:spcAft>
                <a:spcPts val="600"/>
              </a:spcAft>
            </a:pPr>
            <a:r>
              <a:rPr sz="1300" b="1">
                <a:solidFill>
                  <a:srgbClr val="F7E7CF"/>
                </a:solidFill>
                <a:latin typeface="Calibri"/>
              </a:rPr>
              <a:t>Khiên chặn 1 kỹ năng</a:t>
            </a:r>
          </a:p>
        </p:txBody>
      </p:sp>
      <p:sp>
        <p:nvSpPr>
          <p:cNvPr id="38" name="TextBox 37"/>
          <p:cNvSpPr txBox="1"/>
          <p:nvPr/>
        </p:nvSpPr>
        <p:spPr>
          <a:xfrm>
            <a:off x="5138928" y="5394960"/>
            <a:ext cx="1920240" cy="868680"/>
          </a:xfrm>
          <a:prstGeom prst="rect">
            <a:avLst/>
          </a:prstGeom>
          <a:noFill/>
        </p:spPr>
        <p:txBody>
          <a:bodyPr wrap="square">
            <a:spAutoFit/>
          </a:bodyPr>
          <a:lstStyle/>
          <a:p>
            <a:pPr algn="l">
              <a:spcAft>
                <a:spcPts val="600"/>
              </a:spcAft>
            </a:pPr>
            <a:r>
              <a:rPr sz="1100" b="0">
                <a:solidFill>
                  <a:srgbClr val="FFFFFF"/>
                </a:solidFill>
                <a:latin typeface="Calibri"/>
              </a:rPr>
              <a:t>“Đảng muốn vững thì phải có chủ nghĩa làm cốt”</a:t>
            </a:r>
          </a:p>
        </p:txBody>
      </p:sp>
      <p:sp>
        <p:nvSpPr>
          <p:cNvPr id="39" name="Rounded Rectangle 38"/>
          <p:cNvSpPr/>
          <p:nvPr/>
        </p:nvSpPr>
        <p:spPr>
          <a:xfrm>
            <a:off x="7269480" y="4023360"/>
            <a:ext cx="2103120" cy="228600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79208" y="4114800"/>
            <a:ext cx="1920240" cy="640080"/>
          </a:xfrm>
          <a:prstGeom prst="rect">
            <a:avLst/>
          </a:prstGeom>
          <a:noFill/>
        </p:spPr>
        <p:txBody>
          <a:bodyPr wrap="square">
            <a:spAutoFit/>
          </a:bodyPr>
          <a:lstStyle/>
          <a:p>
            <a:pPr algn="l">
              <a:spcAft>
                <a:spcPts val="600"/>
              </a:spcAft>
            </a:pPr>
            <a:r>
              <a:rPr sz="1400" b="1">
                <a:solidFill>
                  <a:srgbClr val="FFFFFF"/>
                </a:solidFill>
                <a:latin typeface="Calibri"/>
              </a:rPr>
              <a:t>💡 Soi Sáng ×3</a:t>
            </a:r>
          </a:p>
        </p:txBody>
      </p:sp>
      <p:sp>
        <p:nvSpPr>
          <p:cNvPr id="41" name="TextBox 40"/>
          <p:cNvSpPr txBox="1"/>
          <p:nvPr/>
        </p:nvSpPr>
        <p:spPr>
          <a:xfrm>
            <a:off x="7379208" y="4800600"/>
            <a:ext cx="1920240" cy="640080"/>
          </a:xfrm>
          <a:prstGeom prst="rect">
            <a:avLst/>
          </a:prstGeom>
          <a:noFill/>
        </p:spPr>
        <p:txBody>
          <a:bodyPr wrap="square">
            <a:spAutoFit/>
          </a:bodyPr>
          <a:lstStyle/>
          <a:p>
            <a:pPr algn="l">
              <a:spcAft>
                <a:spcPts val="600"/>
              </a:spcAft>
            </a:pPr>
            <a:r>
              <a:rPr sz="1300" b="1">
                <a:solidFill>
                  <a:srgbClr val="F7E7CF"/>
                </a:solidFill>
                <a:latin typeface="Calibri"/>
              </a:rPr>
              <a:t>Mở gợi ý khi trả lời</a:t>
            </a:r>
          </a:p>
        </p:txBody>
      </p:sp>
      <p:sp>
        <p:nvSpPr>
          <p:cNvPr id="42" name="TextBox 41"/>
          <p:cNvSpPr txBox="1"/>
          <p:nvPr/>
        </p:nvSpPr>
        <p:spPr>
          <a:xfrm>
            <a:off x="7379208" y="5394960"/>
            <a:ext cx="1920240" cy="868680"/>
          </a:xfrm>
          <a:prstGeom prst="rect">
            <a:avLst/>
          </a:prstGeom>
          <a:noFill/>
        </p:spPr>
        <p:txBody>
          <a:bodyPr wrap="square">
            <a:spAutoFit/>
          </a:bodyPr>
          <a:lstStyle/>
          <a:p>
            <a:pPr algn="l">
              <a:spcAft>
                <a:spcPts val="600"/>
              </a:spcAft>
            </a:pPr>
            <a:r>
              <a:rPr sz="1100" b="0">
                <a:solidFill>
                  <a:srgbClr val="FFFFFF"/>
                </a:solidFill>
                <a:latin typeface="Calibri"/>
              </a:rPr>
              <a:t>Chủ nghĩa Mác - Lênin soi đường</a:t>
            </a:r>
          </a:p>
        </p:txBody>
      </p:sp>
      <p:sp>
        <p:nvSpPr>
          <p:cNvPr id="43" name="Rounded Rectangle 42"/>
          <p:cNvSpPr/>
          <p:nvPr/>
        </p:nvSpPr>
        <p:spPr>
          <a:xfrm>
            <a:off x="9509760" y="4023360"/>
            <a:ext cx="2103120" cy="228600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19488" y="4114800"/>
            <a:ext cx="1920240" cy="640080"/>
          </a:xfrm>
          <a:prstGeom prst="rect">
            <a:avLst/>
          </a:prstGeom>
          <a:noFill/>
        </p:spPr>
        <p:txBody>
          <a:bodyPr wrap="square">
            <a:spAutoFit/>
          </a:bodyPr>
          <a:lstStyle/>
          <a:p>
            <a:pPr algn="l">
              <a:spcAft>
                <a:spcPts val="600"/>
              </a:spcAft>
            </a:pPr>
            <a:r>
              <a:rPr sz="1400" b="1">
                <a:solidFill>
                  <a:srgbClr val="FFFFFF"/>
                </a:solidFill>
                <a:latin typeface="Calibri"/>
              </a:rPr>
              <a:t>🎯 Thu Hẹp Vòng Vây ×2</a:t>
            </a:r>
          </a:p>
        </p:txBody>
      </p:sp>
      <p:sp>
        <p:nvSpPr>
          <p:cNvPr id="45" name="TextBox 44"/>
          <p:cNvSpPr txBox="1"/>
          <p:nvPr/>
        </p:nvSpPr>
        <p:spPr>
          <a:xfrm>
            <a:off x="9619488" y="4800600"/>
            <a:ext cx="1920240" cy="640080"/>
          </a:xfrm>
          <a:prstGeom prst="rect">
            <a:avLst/>
          </a:prstGeom>
          <a:noFill/>
        </p:spPr>
        <p:txBody>
          <a:bodyPr wrap="square">
            <a:spAutoFit/>
          </a:bodyPr>
          <a:lstStyle/>
          <a:p>
            <a:pPr algn="l">
              <a:spcAft>
                <a:spcPts val="600"/>
              </a:spcAft>
            </a:pPr>
            <a:r>
              <a:rPr sz="1300" b="1">
                <a:solidFill>
                  <a:srgbClr val="F7E7CF"/>
                </a:solidFill>
                <a:latin typeface="Calibri"/>
              </a:rPr>
              <a:t>Loại 2 đáp án sai</a:t>
            </a:r>
          </a:p>
        </p:txBody>
      </p:sp>
      <p:sp>
        <p:nvSpPr>
          <p:cNvPr id="46" name="TextBox 45"/>
          <p:cNvSpPr txBox="1"/>
          <p:nvPr/>
        </p:nvSpPr>
        <p:spPr>
          <a:xfrm>
            <a:off x="9619488" y="5394960"/>
            <a:ext cx="1920240" cy="868680"/>
          </a:xfrm>
          <a:prstGeom prst="rect">
            <a:avLst/>
          </a:prstGeom>
          <a:noFill/>
        </p:spPr>
        <p:txBody>
          <a:bodyPr wrap="square">
            <a:spAutoFit/>
          </a:bodyPr>
          <a:lstStyle/>
          <a:p>
            <a:pPr algn="l">
              <a:spcAft>
                <a:spcPts val="600"/>
              </a:spcAft>
            </a:pPr>
            <a:r>
              <a:rPr sz="1100" b="0">
                <a:solidFill>
                  <a:srgbClr val="FFFFFF"/>
                </a:solidFill>
                <a:latin typeface="Calibri"/>
              </a:rPr>
              <a:t>Loại các con đường thất bại</a:t>
            </a:r>
          </a:p>
        </p:txBody>
      </p:sp>
      <p:sp>
        <p:nvSpPr>
          <p:cNvPr id="47" name="TextBox 46"/>
          <p:cNvSpPr txBox="1"/>
          <p:nvPr/>
        </p:nvSpPr>
        <p:spPr>
          <a:xfrm>
            <a:off x="548640" y="6126480"/>
            <a:ext cx="10972800" cy="274320"/>
          </a:xfrm>
          <a:prstGeom prst="rect">
            <a:avLst/>
          </a:prstGeom>
          <a:noFill/>
        </p:spPr>
        <p:txBody>
          <a:bodyPr wrap="square">
            <a:spAutoFit/>
          </a:bodyPr>
          <a:lstStyle/>
          <a:p>
            <a:pPr algn="l">
              <a:spcAft>
                <a:spcPts val="600"/>
              </a:spcAft>
            </a:pPr>
            <a:r>
              <a:rPr sz="1200" b="0">
                <a:solidFill>
                  <a:srgbClr val="66776E"/>
                </a:solidFill>
                <a:latin typeface="Calibri"/>
              </a:rPr>
              <a:t>Đỏ: chặn đối thủ · Xanh: tự thân / hỗ trợ khi trả lời · Tay tối đa 5 thẻ, mỗi lượt dùng 1 thẻ trước khi đổ xúc xắc.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274320"/>
          </a:xfrm>
          <a:prstGeom prst="rect">
            <a:avLst/>
          </a:prstGeom>
          <a:noFill/>
        </p:spPr>
        <p:txBody>
          <a:bodyPr wrap="square">
            <a:spAutoFit/>
          </a:bodyPr>
          <a:lstStyle/>
          <a:p>
            <a:pPr algn="l">
              <a:spcAft>
                <a:spcPts val="600"/>
              </a:spcAft>
            </a:pPr>
            <a:r>
              <a:rPr sz="1200" b="1">
                <a:solidFill>
                  <a:srgbClr val="285E4D"/>
                </a:solidFill>
                <a:latin typeface="Calibri"/>
              </a:rPr>
              <a:t>TƯƠNG TÁC · PHỤ LỤC 09_INTERACTION_FEEDBACK_EVIDENCE</a:t>
            </a:r>
          </a:p>
        </p:txBody>
      </p:sp>
      <p:sp>
        <p:nvSpPr>
          <p:cNvPr id="4" name="TextBox 3"/>
          <p:cNvSpPr txBox="1"/>
          <p:nvPr/>
        </p:nvSpPr>
        <p:spPr>
          <a:xfrm>
            <a:off x="548640" y="548640"/>
            <a:ext cx="10972800" cy="822960"/>
          </a:xfrm>
          <a:prstGeom prst="rect">
            <a:avLst/>
          </a:prstGeom>
          <a:noFill/>
        </p:spPr>
        <p:txBody>
          <a:bodyPr wrap="square">
            <a:spAutoFit/>
          </a:bodyPr>
          <a:lstStyle/>
          <a:p>
            <a:pPr algn="l">
              <a:spcAft>
                <a:spcPts val="600"/>
              </a:spcAft>
            </a:pPr>
            <a:r>
              <a:rPr sz="3200" b="1">
                <a:solidFill>
                  <a:srgbClr val="243D34"/>
                </a:solidFill>
                <a:latin typeface="Cambria"/>
              </a:rPr>
              <a:t>Thử nghiệm thực tế và phản hồi người chơi</a:t>
            </a:r>
          </a:p>
        </p:txBody>
      </p:sp>
      <p:sp>
        <p:nvSpPr>
          <p:cNvPr id="5" name="TextBox 4"/>
          <p:cNvSpPr txBox="1"/>
          <p:nvPr/>
        </p:nvSpPr>
        <p:spPr>
          <a:xfrm>
            <a:off x="548640" y="6446520"/>
            <a:ext cx="8229600" cy="274320"/>
          </a:xfrm>
          <a:prstGeom prst="rect">
            <a:avLst/>
          </a:prstGeom>
          <a:noFill/>
        </p:spPr>
        <p:txBody>
          <a:bodyPr wrap="square">
            <a:spAutoFit/>
          </a:bodyPr>
          <a:lstStyle/>
          <a:p>
            <a:pPr algn="l">
              <a:spcAft>
                <a:spcPts val="600"/>
              </a:spcAft>
            </a:pPr>
            <a:r>
              <a:rPr sz="1000" b="0">
                <a:solidFill>
                  <a:srgbClr val="66776E"/>
                </a:solidFill>
                <a:latin typeface="Calibri"/>
              </a:rPr>
              <a:t>VNR202 · Cá Ngựa Cách Mạng v2 · Fall 2026</a:t>
            </a:r>
          </a:p>
        </p:txBody>
      </p:sp>
      <p:sp>
        <p:nvSpPr>
          <p:cNvPr id="6" name="TextBox 5"/>
          <p:cNvSpPr txBox="1"/>
          <p:nvPr/>
        </p:nvSpPr>
        <p:spPr>
          <a:xfrm>
            <a:off x="10972800" y="6446520"/>
            <a:ext cx="731520" cy="274320"/>
          </a:xfrm>
          <a:prstGeom prst="rect">
            <a:avLst/>
          </a:prstGeom>
          <a:noFill/>
        </p:spPr>
        <p:txBody>
          <a:bodyPr wrap="square">
            <a:spAutoFit/>
          </a:bodyPr>
          <a:lstStyle/>
          <a:p>
            <a:pPr algn="r">
              <a:spcAft>
                <a:spcPts val="600"/>
              </a:spcAft>
            </a:pPr>
            <a:r>
              <a:rPr sz="1000" b="0">
                <a:solidFill>
                  <a:srgbClr val="66776E"/>
                </a:solidFill>
                <a:latin typeface="Calibri"/>
              </a:rPr>
              <a:t>9</a:t>
            </a:r>
          </a:p>
        </p:txBody>
      </p:sp>
      <p:sp>
        <p:nvSpPr>
          <p:cNvPr id="7" name="Rounded Rectangle 6"/>
          <p:cNvSpPr/>
          <p:nvPr/>
        </p:nvSpPr>
        <p:spPr>
          <a:xfrm>
            <a:off x="548640" y="1554480"/>
            <a:ext cx="2606040" cy="1920240"/>
          </a:xfrm>
          <a:prstGeom prst="roundRect">
            <a:avLst>
              <a:gd name="adj" fmla="val 8000"/>
            </a:avLst>
          </a:prstGeom>
          <a:solidFill>
            <a:srgbClr val="E8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45920"/>
            <a:ext cx="2377440" cy="822960"/>
          </a:xfrm>
          <a:prstGeom prst="rect">
            <a:avLst/>
          </a:prstGeom>
          <a:noFill/>
        </p:spPr>
        <p:txBody>
          <a:bodyPr wrap="square">
            <a:spAutoFit/>
          </a:bodyPr>
          <a:lstStyle/>
          <a:p>
            <a:pPr algn="l">
              <a:spcAft>
                <a:spcPts val="600"/>
              </a:spcAft>
            </a:pPr>
            <a:r>
              <a:rPr sz="3600" b="1">
                <a:solidFill>
                  <a:srgbClr val="285E4D"/>
                </a:solidFill>
                <a:latin typeface="Cambria"/>
              </a:rPr>
              <a:t>[SỐ]</a:t>
            </a:r>
          </a:p>
        </p:txBody>
      </p:sp>
      <p:sp>
        <p:nvSpPr>
          <p:cNvPr id="9" name="TextBox 8"/>
          <p:cNvSpPr txBox="1"/>
          <p:nvPr/>
        </p:nvSpPr>
        <p:spPr>
          <a:xfrm>
            <a:off x="685800" y="2468880"/>
            <a:ext cx="2377440" cy="914400"/>
          </a:xfrm>
          <a:prstGeom prst="rect">
            <a:avLst/>
          </a:prstGeom>
          <a:noFill/>
        </p:spPr>
        <p:txBody>
          <a:bodyPr wrap="square">
            <a:spAutoFit/>
          </a:bodyPr>
          <a:lstStyle/>
          <a:p>
            <a:pPr algn="l">
              <a:spcAft>
                <a:spcPts val="600"/>
              </a:spcAft>
            </a:pPr>
            <a:r>
              <a:rPr sz="1300" b="0">
                <a:solidFill>
                  <a:srgbClr val="243D34"/>
                </a:solidFill>
                <a:latin typeface="Calibri"/>
              </a:rPr>
              <a:t>người tham gia thử nghiệm (mục tiêu ≥ 15-20)</a:t>
            </a:r>
          </a:p>
        </p:txBody>
      </p:sp>
      <p:sp>
        <p:nvSpPr>
          <p:cNvPr id="10" name="Rounded Rectangle 9"/>
          <p:cNvSpPr/>
          <p:nvPr/>
        </p:nvSpPr>
        <p:spPr>
          <a:xfrm>
            <a:off x="3337560" y="1554480"/>
            <a:ext cx="2606040" cy="1920240"/>
          </a:xfrm>
          <a:prstGeom prst="roundRect">
            <a:avLst>
              <a:gd name="adj" fmla="val 8000"/>
            </a:avLst>
          </a:prstGeom>
          <a:solidFill>
            <a:srgbClr val="E8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1645920"/>
            <a:ext cx="2377440" cy="822960"/>
          </a:xfrm>
          <a:prstGeom prst="rect">
            <a:avLst/>
          </a:prstGeom>
          <a:noFill/>
        </p:spPr>
        <p:txBody>
          <a:bodyPr wrap="square">
            <a:spAutoFit/>
          </a:bodyPr>
          <a:lstStyle/>
          <a:p>
            <a:pPr algn="l">
              <a:spcAft>
                <a:spcPts val="600"/>
              </a:spcAft>
            </a:pPr>
            <a:r>
              <a:rPr sz="3600" b="1">
                <a:solidFill>
                  <a:srgbClr val="285E4D"/>
                </a:solidFill>
                <a:latin typeface="Cambria"/>
              </a:rPr>
              <a:t>[%]</a:t>
            </a:r>
          </a:p>
        </p:txBody>
      </p:sp>
      <p:sp>
        <p:nvSpPr>
          <p:cNvPr id="12" name="TextBox 11"/>
          <p:cNvSpPr txBox="1"/>
          <p:nvPr/>
        </p:nvSpPr>
        <p:spPr>
          <a:xfrm>
            <a:off x="3474720" y="2468880"/>
            <a:ext cx="2377440" cy="914400"/>
          </a:xfrm>
          <a:prstGeom prst="rect">
            <a:avLst/>
          </a:prstGeom>
          <a:noFill/>
        </p:spPr>
        <p:txBody>
          <a:bodyPr wrap="square">
            <a:spAutoFit/>
          </a:bodyPr>
          <a:lstStyle/>
          <a:p>
            <a:pPr algn="l">
              <a:spcAft>
                <a:spcPts val="600"/>
              </a:spcAft>
            </a:pPr>
            <a:r>
              <a:rPr sz="1300" b="0">
                <a:solidFill>
                  <a:srgbClr val="243D34"/>
                </a:solidFill>
                <a:latin typeface="Calibri"/>
              </a:rPr>
              <a:t>tự đánh giá nhớ mốc 1930 tốt hơn sau khi chơi</a:t>
            </a:r>
          </a:p>
        </p:txBody>
      </p:sp>
      <p:sp>
        <p:nvSpPr>
          <p:cNvPr id="13" name="Rounded Rectangle 12"/>
          <p:cNvSpPr/>
          <p:nvPr/>
        </p:nvSpPr>
        <p:spPr>
          <a:xfrm>
            <a:off x="6126479" y="1554480"/>
            <a:ext cx="2606040" cy="1920240"/>
          </a:xfrm>
          <a:prstGeom prst="roundRect">
            <a:avLst>
              <a:gd name="adj" fmla="val 8000"/>
            </a:avLst>
          </a:prstGeom>
          <a:solidFill>
            <a:srgbClr val="E8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1645920"/>
            <a:ext cx="2377440" cy="822960"/>
          </a:xfrm>
          <a:prstGeom prst="rect">
            <a:avLst/>
          </a:prstGeom>
          <a:noFill/>
        </p:spPr>
        <p:txBody>
          <a:bodyPr wrap="square">
            <a:spAutoFit/>
          </a:bodyPr>
          <a:lstStyle/>
          <a:p>
            <a:pPr algn="l">
              <a:spcAft>
                <a:spcPts val="600"/>
              </a:spcAft>
            </a:pPr>
            <a:r>
              <a:rPr sz="3600" b="1">
                <a:solidFill>
                  <a:srgbClr val="285E4D"/>
                </a:solidFill>
                <a:latin typeface="Cambria"/>
              </a:rPr>
              <a:t>[x/5]</a:t>
            </a:r>
          </a:p>
        </p:txBody>
      </p:sp>
      <p:sp>
        <p:nvSpPr>
          <p:cNvPr id="15" name="TextBox 14"/>
          <p:cNvSpPr txBox="1"/>
          <p:nvPr/>
        </p:nvSpPr>
        <p:spPr>
          <a:xfrm>
            <a:off x="6263640" y="2468880"/>
            <a:ext cx="2377440" cy="914400"/>
          </a:xfrm>
          <a:prstGeom prst="rect">
            <a:avLst/>
          </a:prstGeom>
          <a:noFill/>
        </p:spPr>
        <p:txBody>
          <a:bodyPr wrap="square">
            <a:spAutoFit/>
          </a:bodyPr>
          <a:lstStyle/>
          <a:p>
            <a:pPr algn="l">
              <a:spcAft>
                <a:spcPts val="600"/>
              </a:spcAft>
            </a:pPr>
            <a:r>
              <a:rPr sz="1300" b="0">
                <a:solidFill>
                  <a:srgbClr val="243D34"/>
                </a:solidFill>
                <a:latin typeface="Calibri"/>
              </a:rPr>
              <a:t>điểm hài lòng trung bình</a:t>
            </a:r>
          </a:p>
        </p:txBody>
      </p:sp>
      <p:sp>
        <p:nvSpPr>
          <p:cNvPr id="16" name="Rounded Rectangle 15"/>
          <p:cNvSpPr/>
          <p:nvPr/>
        </p:nvSpPr>
        <p:spPr>
          <a:xfrm>
            <a:off x="8915399" y="1554480"/>
            <a:ext cx="2606040" cy="1920240"/>
          </a:xfrm>
          <a:prstGeom prst="roundRect">
            <a:avLst>
              <a:gd name="adj" fmla="val 8000"/>
            </a:avLst>
          </a:prstGeom>
          <a:solidFill>
            <a:srgbClr val="E8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59" y="1645920"/>
            <a:ext cx="2377440" cy="822960"/>
          </a:xfrm>
          <a:prstGeom prst="rect">
            <a:avLst/>
          </a:prstGeom>
          <a:noFill/>
        </p:spPr>
        <p:txBody>
          <a:bodyPr wrap="square">
            <a:spAutoFit/>
          </a:bodyPr>
          <a:lstStyle/>
          <a:p>
            <a:pPr algn="l">
              <a:spcAft>
                <a:spcPts val="600"/>
              </a:spcAft>
            </a:pPr>
            <a:r>
              <a:rPr sz="3600" b="1">
                <a:solidFill>
                  <a:srgbClr val="285E4D"/>
                </a:solidFill>
                <a:latin typeface="Cambria"/>
              </a:rPr>
              <a:t>[%]</a:t>
            </a:r>
          </a:p>
        </p:txBody>
      </p:sp>
      <p:sp>
        <p:nvSpPr>
          <p:cNvPr id="18" name="TextBox 17"/>
          <p:cNvSpPr txBox="1"/>
          <p:nvPr/>
        </p:nvSpPr>
        <p:spPr>
          <a:xfrm>
            <a:off x="9052559" y="2468880"/>
            <a:ext cx="2377440" cy="914400"/>
          </a:xfrm>
          <a:prstGeom prst="rect">
            <a:avLst/>
          </a:prstGeom>
          <a:noFill/>
        </p:spPr>
        <p:txBody>
          <a:bodyPr wrap="square">
            <a:spAutoFit/>
          </a:bodyPr>
          <a:lstStyle/>
          <a:p>
            <a:pPr algn="l">
              <a:spcAft>
                <a:spcPts val="600"/>
              </a:spcAft>
            </a:pPr>
            <a:r>
              <a:rPr sz="1300" b="0">
                <a:solidFill>
                  <a:srgbClr val="243D34"/>
                </a:solidFill>
                <a:latin typeface="Calibri"/>
              </a:rPr>
              <a:t>trả lời đúng ở lượt đầu và lượt cuối (so sánh)</a:t>
            </a:r>
          </a:p>
        </p:txBody>
      </p:sp>
      <p:sp>
        <p:nvSpPr>
          <p:cNvPr id="19" name="TextBox 18"/>
          <p:cNvSpPr txBox="1"/>
          <p:nvPr/>
        </p:nvSpPr>
        <p:spPr>
          <a:xfrm>
            <a:off x="548640" y="3749039"/>
            <a:ext cx="10972800" cy="365760"/>
          </a:xfrm>
          <a:prstGeom prst="rect">
            <a:avLst/>
          </a:prstGeom>
          <a:noFill/>
        </p:spPr>
        <p:txBody>
          <a:bodyPr wrap="square">
            <a:spAutoFit/>
          </a:bodyPr>
          <a:lstStyle/>
          <a:p>
            <a:pPr algn="l">
              <a:spcAft>
                <a:spcPts val="600"/>
              </a:spcAft>
            </a:pPr>
            <a:r>
              <a:rPr sz="1700" b="1">
                <a:solidFill>
                  <a:srgbClr val="285E4D"/>
                </a:solidFill>
                <a:latin typeface="Calibri"/>
              </a:rPr>
              <a:t>Phản hồi tiêu biểu → thay đổi ở v2 (điền từ form thật)</a:t>
            </a:r>
          </a:p>
        </p:txBody>
      </p:sp>
      <p:sp>
        <p:nvSpPr>
          <p:cNvPr id="20" name="TextBox 19"/>
          <p:cNvSpPr txBox="1"/>
          <p:nvPr/>
        </p:nvSpPr>
        <p:spPr>
          <a:xfrm>
            <a:off x="548640" y="4206240"/>
            <a:ext cx="10972800" cy="2011680"/>
          </a:xfrm>
          <a:prstGeom prst="rect">
            <a:avLst/>
          </a:prstGeom>
          <a:noFill/>
        </p:spPr>
        <p:txBody>
          <a:bodyPr wrap="square">
            <a:spAutoFit/>
          </a:bodyPr>
          <a:lstStyle/>
          <a:p>
            <a:pPr>
              <a:spcAft>
                <a:spcPts val="900"/>
              </a:spcAft>
            </a:pPr>
            <a:r>
              <a:rPr sz="1500" b="1">
                <a:solidFill>
                  <a:srgbClr val="243D34"/>
                </a:solidFill>
                <a:latin typeface="Calibri"/>
              </a:rPr>
              <a:t>▪ “[Trích phản hồi 1]”</a:t>
            </a:r>
            <a:r>
              <a:rPr sz="1500">
                <a:solidFill>
                  <a:srgbClr val="243D34"/>
                </a:solidFill>
                <a:latin typeface="Calibri"/>
              </a:rPr>
              <a:t> → [Thay đổi đã làm]</a:t>
            </a:r>
          </a:p>
          <a:p>
            <a:pPr>
              <a:spcAft>
                <a:spcPts val="900"/>
              </a:spcAft>
            </a:pPr>
            <a:r>
              <a:rPr sz="1500" b="1">
                <a:solidFill>
                  <a:srgbClr val="243D34"/>
                </a:solidFill>
                <a:latin typeface="Calibri"/>
              </a:rPr>
              <a:t>▪ “[Trích phản hồi 2]”</a:t>
            </a:r>
            <a:r>
              <a:rPr sz="1500">
                <a:solidFill>
                  <a:srgbClr val="243D34"/>
                </a:solidFill>
                <a:latin typeface="Calibri"/>
              </a:rPr>
              <a:t> → [Thay đổi đã làm]</a:t>
            </a:r>
          </a:p>
          <a:p>
            <a:pPr>
              <a:spcAft>
                <a:spcPts val="900"/>
              </a:spcAft>
            </a:pPr>
            <a:r>
              <a:rPr sz="1500" b="1">
                <a:solidFill>
                  <a:srgbClr val="243D34"/>
                </a:solidFill>
                <a:latin typeface="Calibri"/>
              </a:rPr>
              <a:t>▪ “[Trích phản hồi 3]”</a:t>
            </a:r>
            <a:r>
              <a:rPr sz="1500">
                <a:solidFill>
                  <a:srgbClr val="243D34"/>
                </a:solidFill>
                <a:latin typeface="Calibri"/>
              </a:rPr>
              <a:t> → [Thay đổi đã làm]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274320"/>
          </a:xfrm>
          <a:prstGeom prst="rect">
            <a:avLst/>
          </a:prstGeom>
          <a:noFill/>
        </p:spPr>
        <p:txBody>
          <a:bodyPr wrap="square">
            <a:spAutoFit/>
          </a:bodyPr>
          <a:lstStyle/>
          <a:p>
            <a:pPr algn="l">
              <a:spcAft>
                <a:spcPts val="600"/>
              </a:spcAft>
            </a:pPr>
            <a:r>
              <a:rPr sz="1200" b="1">
                <a:solidFill>
                  <a:srgbClr val="285E4D"/>
                </a:solidFill>
                <a:latin typeface="Calibri"/>
              </a:rPr>
              <a:t>QUY TRÌNH THIẾT KẾ · 04_PRODUCT_PROTOTYPE_DEVELOPMENTLOG</a:t>
            </a:r>
          </a:p>
        </p:txBody>
      </p:sp>
      <p:sp>
        <p:nvSpPr>
          <p:cNvPr id="4" name="TextBox 3"/>
          <p:cNvSpPr txBox="1"/>
          <p:nvPr/>
        </p:nvSpPr>
        <p:spPr>
          <a:xfrm>
            <a:off x="548640" y="548640"/>
            <a:ext cx="10972800" cy="822960"/>
          </a:xfrm>
          <a:prstGeom prst="rect">
            <a:avLst/>
          </a:prstGeom>
          <a:noFill/>
        </p:spPr>
        <p:txBody>
          <a:bodyPr wrap="square">
            <a:spAutoFit/>
          </a:bodyPr>
          <a:lstStyle/>
          <a:p>
            <a:pPr algn="l">
              <a:spcAft>
                <a:spcPts val="600"/>
              </a:spcAft>
            </a:pPr>
            <a:r>
              <a:rPr sz="3200" b="1">
                <a:solidFill>
                  <a:srgbClr val="243D34"/>
                </a:solidFill>
                <a:latin typeface="Cambria"/>
              </a:rPr>
              <a:t>Nhật ký cải tiến sản phẩm: từ v1 đến v2</a:t>
            </a:r>
          </a:p>
        </p:txBody>
      </p:sp>
      <p:sp>
        <p:nvSpPr>
          <p:cNvPr id="5" name="TextBox 4"/>
          <p:cNvSpPr txBox="1"/>
          <p:nvPr/>
        </p:nvSpPr>
        <p:spPr>
          <a:xfrm>
            <a:off x="548640" y="6446520"/>
            <a:ext cx="8229600" cy="274320"/>
          </a:xfrm>
          <a:prstGeom prst="rect">
            <a:avLst/>
          </a:prstGeom>
          <a:noFill/>
        </p:spPr>
        <p:txBody>
          <a:bodyPr wrap="square">
            <a:spAutoFit/>
          </a:bodyPr>
          <a:lstStyle/>
          <a:p>
            <a:pPr algn="l">
              <a:spcAft>
                <a:spcPts val="600"/>
              </a:spcAft>
            </a:pPr>
            <a:r>
              <a:rPr sz="1000" b="0">
                <a:solidFill>
                  <a:srgbClr val="66776E"/>
                </a:solidFill>
                <a:latin typeface="Calibri"/>
              </a:rPr>
              <a:t>VNR202 · Cá Ngựa Cách Mạng v2 · Fall 2026</a:t>
            </a:r>
          </a:p>
        </p:txBody>
      </p:sp>
      <p:sp>
        <p:nvSpPr>
          <p:cNvPr id="6" name="TextBox 5"/>
          <p:cNvSpPr txBox="1"/>
          <p:nvPr/>
        </p:nvSpPr>
        <p:spPr>
          <a:xfrm>
            <a:off x="10972800" y="6446520"/>
            <a:ext cx="731520" cy="274320"/>
          </a:xfrm>
          <a:prstGeom prst="rect">
            <a:avLst/>
          </a:prstGeom>
          <a:noFill/>
        </p:spPr>
        <p:txBody>
          <a:bodyPr wrap="square">
            <a:spAutoFit/>
          </a:bodyPr>
          <a:lstStyle/>
          <a:p>
            <a:pPr algn="r">
              <a:spcAft>
                <a:spcPts val="600"/>
              </a:spcAft>
            </a:pPr>
            <a:r>
              <a:rPr sz="1000" b="0">
                <a:solidFill>
                  <a:srgbClr val="66776E"/>
                </a:solidFill>
                <a:latin typeface="Calibri"/>
              </a:rPr>
              <a:t>10</a:t>
            </a:r>
          </a:p>
        </p:txBody>
      </p:sp>
      <p:sp>
        <p:nvSpPr>
          <p:cNvPr id="7" name="Rounded Rectangle 6"/>
          <p:cNvSpPr/>
          <p:nvPr/>
        </p:nvSpPr>
        <p:spPr>
          <a:xfrm>
            <a:off x="548640" y="1554480"/>
            <a:ext cx="5394960" cy="4023360"/>
          </a:xfrm>
          <a:prstGeom prst="roundRect">
            <a:avLst>
              <a:gd name="adj" fmla="val 8000"/>
            </a:avLst>
          </a:prstGeom>
          <a:solidFill>
            <a:srgbClr val="BF8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64207"/>
            <a:ext cx="5029200" cy="457200"/>
          </a:xfrm>
          <a:prstGeom prst="rect">
            <a:avLst/>
          </a:prstGeom>
          <a:noFill/>
        </p:spPr>
        <p:txBody>
          <a:bodyPr wrap="square">
            <a:spAutoFit/>
          </a:bodyPr>
          <a:lstStyle/>
          <a:p>
            <a:pPr algn="l">
              <a:spcAft>
                <a:spcPts val="600"/>
              </a:spcAft>
            </a:pPr>
            <a:r>
              <a:rPr sz="1600" b="1">
                <a:solidFill>
                  <a:srgbClr val="FFFFFF"/>
                </a:solidFill>
                <a:latin typeface="Calibri"/>
              </a:rPr>
              <a:t>v1 · Đấu Trường Tri Thức</a:t>
            </a:r>
          </a:p>
        </p:txBody>
      </p:sp>
      <p:sp>
        <p:nvSpPr>
          <p:cNvPr id="9" name="TextBox 8"/>
          <p:cNvSpPr txBox="1"/>
          <p:nvPr/>
        </p:nvSpPr>
        <p:spPr>
          <a:xfrm>
            <a:off x="731520" y="2121408"/>
            <a:ext cx="5029200" cy="3383280"/>
          </a:xfrm>
          <a:prstGeom prst="rect">
            <a:avLst/>
          </a:prstGeom>
          <a:noFill/>
        </p:spPr>
        <p:txBody>
          <a:bodyPr wrap="square">
            <a:spAutoFit/>
          </a:bodyPr>
          <a:lstStyle/>
          <a:p>
            <a:pPr algn="l">
              <a:spcAft>
                <a:spcPts val="600"/>
              </a:spcAft>
            </a:pPr>
            <a:r>
              <a:rPr sz="1300" b="0">
                <a:solidFill>
                  <a:srgbClr val="FFFFFF"/>
                </a:solidFill>
                <a:latin typeface="Calibri"/>
              </a:rPr>
              <a:t>2 đội đấu trực tiếp, thanh máu (HP)</a:t>
            </a:r>
          </a:p>
          <a:p>
            <a:pPr algn="l">
              <a:spcAft>
                <a:spcPts val="600"/>
              </a:spcAft>
            </a:pPr>
            <a:r>
              <a:rPr sz="1300" b="0">
                <a:solidFill>
                  <a:srgbClr val="FFFFFF"/>
                </a:solidFill>
                <a:latin typeface="Calibri"/>
              </a:rPr>
              <a:t>Thẻ câu hỏi, thẻ đáp án, 10 kỹ năng công / thủ</a:t>
            </a:r>
          </a:p>
          <a:p>
            <a:pPr algn="l">
              <a:spcAft>
                <a:spcPts val="600"/>
              </a:spcAft>
            </a:pPr>
            <a:r>
              <a:rPr sz="1300" b="0">
                <a:solidFill>
                  <a:srgbClr val="FFFFFF"/>
                </a:solidFill>
                <a:latin typeface="Calibri"/>
              </a:rPr>
              <a:t>Bán kết + chung kết, chỉ 4 đội</a:t>
            </a:r>
          </a:p>
          <a:p>
            <a:pPr algn="l">
              <a:spcAft>
                <a:spcPts val="600"/>
              </a:spcAft>
            </a:pPr>
            <a:r>
              <a:rPr sz="1300" b="0">
                <a:solidFill>
                  <a:srgbClr val="FFFFFF"/>
                </a:solidFill>
                <a:latin typeface="Calibri"/>
              </a:rPr>
              <a:t>Nội dung: Tư tưởng Hồ Chí Minh</a:t>
            </a:r>
          </a:p>
          <a:p>
            <a:pPr algn="l">
              <a:spcAft>
                <a:spcPts val="600"/>
              </a:spcAft>
            </a:pPr>
            <a:r>
              <a:rPr sz="1300" b="0">
                <a:solidFill>
                  <a:srgbClr val="FFFFFF"/>
                </a:solidFill>
                <a:latin typeface="Calibri"/>
              </a:rPr>
              <a:t>Hạn chế: nhiều đội ngồi chờ lâu; khó cho lớp 20-30 người</a:t>
            </a:r>
          </a:p>
        </p:txBody>
      </p:sp>
      <p:sp>
        <p:nvSpPr>
          <p:cNvPr id="10" name="Rounded Rectangle 9"/>
          <p:cNvSpPr/>
          <p:nvPr/>
        </p:nvSpPr>
        <p:spPr>
          <a:xfrm>
            <a:off x="6217920" y="1554480"/>
            <a:ext cx="5394960" cy="402336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64207"/>
            <a:ext cx="5029200" cy="457200"/>
          </a:xfrm>
          <a:prstGeom prst="rect">
            <a:avLst/>
          </a:prstGeom>
          <a:noFill/>
        </p:spPr>
        <p:txBody>
          <a:bodyPr wrap="square">
            <a:spAutoFit/>
          </a:bodyPr>
          <a:lstStyle/>
          <a:p>
            <a:pPr algn="l">
              <a:spcAft>
                <a:spcPts val="600"/>
              </a:spcAft>
            </a:pPr>
            <a:r>
              <a:rPr sz="1600" b="1">
                <a:solidFill>
                  <a:srgbClr val="FFFFFF"/>
                </a:solidFill>
                <a:latin typeface="Calibri"/>
              </a:rPr>
              <a:t>v2 · Cá Ngựa Cách Mạng</a:t>
            </a:r>
          </a:p>
        </p:txBody>
      </p:sp>
      <p:sp>
        <p:nvSpPr>
          <p:cNvPr id="12" name="TextBox 11"/>
          <p:cNvSpPr txBox="1"/>
          <p:nvPr/>
        </p:nvSpPr>
        <p:spPr>
          <a:xfrm>
            <a:off x="6400800" y="2121408"/>
            <a:ext cx="5029200" cy="3383280"/>
          </a:xfrm>
          <a:prstGeom prst="rect">
            <a:avLst/>
          </a:prstGeom>
          <a:noFill/>
        </p:spPr>
        <p:txBody>
          <a:bodyPr wrap="square">
            <a:spAutoFit/>
          </a:bodyPr>
          <a:lstStyle/>
          <a:p>
            <a:pPr algn="l">
              <a:spcAft>
                <a:spcPts val="600"/>
              </a:spcAft>
            </a:pPr>
            <a:r>
              <a:rPr sz="1300" b="0">
                <a:solidFill>
                  <a:srgbClr val="FFFFFF"/>
                </a:solidFill>
                <a:latin typeface="Calibri"/>
              </a:rPr>
              <a:t>6 đội đua cùng lúc trên một bàn cờ</a:t>
            </a:r>
          </a:p>
          <a:p>
            <a:pPr algn="l">
              <a:spcAft>
                <a:spcPts val="600"/>
              </a:spcAft>
            </a:pPr>
            <a:r>
              <a:rPr sz="1300" b="0">
                <a:solidFill>
                  <a:srgbClr val="FFFFFF"/>
                </a:solidFill>
                <a:latin typeface="Calibri"/>
              </a:rPr>
              <a:t>Đúng → đi + nhận thẻ; sai → đi nhưng không thẻ</a:t>
            </a:r>
          </a:p>
          <a:p>
            <a:pPr algn="l">
              <a:spcAft>
                <a:spcPts val="600"/>
              </a:spcAft>
            </a:pPr>
            <a:r>
              <a:rPr sz="1300" b="0">
                <a:solidFill>
                  <a:srgbClr val="FFFFFF"/>
                </a:solidFill>
                <a:latin typeface="Calibri"/>
              </a:rPr>
              <a:t>10 thẻ kỹ năng: chặn đối thủ, tăng tốc, khiên, hỗ trợ</a:t>
            </a:r>
          </a:p>
          <a:p>
            <a:pPr algn="l">
              <a:spcAft>
                <a:spcPts val="600"/>
              </a:spcAft>
            </a:pPr>
            <a:r>
              <a:rPr sz="1300" b="0">
                <a:solidFill>
                  <a:srgbClr val="FFFFFF"/>
                </a:solidFill>
                <a:latin typeface="Calibri"/>
              </a:rPr>
              <a:t>40 câu hỏi lấy từ Chương I, có giải thích + số trang</a:t>
            </a:r>
          </a:p>
          <a:p>
            <a:pPr algn="l">
              <a:spcAft>
                <a:spcPts val="600"/>
              </a:spcAft>
            </a:pPr>
            <a:r>
              <a:rPr sz="1300" b="0">
                <a:solidFill>
                  <a:srgbClr val="FFFFFF"/>
                </a:solidFill>
                <a:latin typeface="Calibri"/>
              </a:rPr>
              <a:t>Backend NestJS, màn chiếu riêng, đo thử 30 client</a:t>
            </a:r>
          </a:p>
        </p:txBody>
      </p:sp>
      <p:sp>
        <p:nvSpPr>
          <p:cNvPr id="13" name="TextBox 12"/>
          <p:cNvSpPr txBox="1"/>
          <p:nvPr/>
        </p:nvSpPr>
        <p:spPr>
          <a:xfrm>
            <a:off x="548640" y="5760720"/>
            <a:ext cx="10972800" cy="457200"/>
          </a:xfrm>
          <a:prstGeom prst="rect">
            <a:avLst/>
          </a:prstGeom>
          <a:noFill/>
        </p:spPr>
        <p:txBody>
          <a:bodyPr wrap="square">
            <a:spAutoFit/>
          </a:bodyPr>
          <a:lstStyle/>
          <a:p>
            <a:pPr algn="l">
              <a:spcAft>
                <a:spcPts val="600"/>
              </a:spcAft>
            </a:pPr>
            <a:r>
              <a:rPr sz="1300" b="0">
                <a:solidFill>
                  <a:srgbClr val="66776E"/>
                </a:solidFill>
                <a:latin typeface="Calibri"/>
              </a:rPr>
              <a:t>Giới hạn hiện tại: dữ liệu phòng lưu trong bộ nhớ (mất khi khởi động lại); hướng phát triển: Redis, WebSocket, thêm bộ câu hỏi các chương khác.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274320"/>
          </a:xfrm>
          <a:prstGeom prst="rect">
            <a:avLst/>
          </a:prstGeom>
          <a:noFill/>
        </p:spPr>
        <p:txBody>
          <a:bodyPr wrap="square">
            <a:spAutoFit/>
          </a:bodyPr>
          <a:lstStyle/>
          <a:p>
            <a:pPr algn="l">
              <a:spcAft>
                <a:spcPts val="600"/>
              </a:spcAft>
            </a:pPr>
            <a:r>
              <a:rPr sz="1200" b="1">
                <a:solidFill>
                  <a:srgbClr val="285E4D"/>
                </a:solidFill>
                <a:latin typeface="Calibri"/>
              </a:rPr>
              <a:t>TỔNG KẾT</a:t>
            </a:r>
          </a:p>
        </p:txBody>
      </p:sp>
      <p:sp>
        <p:nvSpPr>
          <p:cNvPr id="4" name="TextBox 3"/>
          <p:cNvSpPr txBox="1"/>
          <p:nvPr/>
        </p:nvSpPr>
        <p:spPr>
          <a:xfrm>
            <a:off x="548640" y="548640"/>
            <a:ext cx="10972800" cy="822960"/>
          </a:xfrm>
          <a:prstGeom prst="rect">
            <a:avLst/>
          </a:prstGeom>
          <a:noFill/>
        </p:spPr>
        <p:txBody>
          <a:bodyPr wrap="square">
            <a:spAutoFit/>
          </a:bodyPr>
          <a:lstStyle/>
          <a:p>
            <a:pPr algn="l">
              <a:spcAft>
                <a:spcPts val="600"/>
              </a:spcAft>
            </a:pPr>
            <a:r>
              <a:rPr sz="3200" b="1">
                <a:solidFill>
                  <a:srgbClr val="243D34"/>
                </a:solidFill>
                <a:latin typeface="Cambria"/>
              </a:rPr>
              <a:t>Thông điệp cốt lõi và bài học rút ra</a:t>
            </a:r>
          </a:p>
        </p:txBody>
      </p:sp>
      <p:sp>
        <p:nvSpPr>
          <p:cNvPr id="5" name="TextBox 4"/>
          <p:cNvSpPr txBox="1"/>
          <p:nvPr/>
        </p:nvSpPr>
        <p:spPr>
          <a:xfrm>
            <a:off x="548640" y="6446520"/>
            <a:ext cx="8229600" cy="274320"/>
          </a:xfrm>
          <a:prstGeom prst="rect">
            <a:avLst/>
          </a:prstGeom>
          <a:noFill/>
        </p:spPr>
        <p:txBody>
          <a:bodyPr wrap="square">
            <a:spAutoFit/>
          </a:bodyPr>
          <a:lstStyle/>
          <a:p>
            <a:pPr algn="l">
              <a:spcAft>
                <a:spcPts val="600"/>
              </a:spcAft>
            </a:pPr>
            <a:r>
              <a:rPr sz="1000" b="0">
                <a:solidFill>
                  <a:srgbClr val="66776E"/>
                </a:solidFill>
                <a:latin typeface="Calibri"/>
              </a:rPr>
              <a:t>VNR202 · Cá Ngựa Cách Mạng v2 · Fall 2026</a:t>
            </a:r>
          </a:p>
        </p:txBody>
      </p:sp>
      <p:sp>
        <p:nvSpPr>
          <p:cNvPr id="6" name="TextBox 5"/>
          <p:cNvSpPr txBox="1"/>
          <p:nvPr/>
        </p:nvSpPr>
        <p:spPr>
          <a:xfrm>
            <a:off x="10972800" y="6446520"/>
            <a:ext cx="731520" cy="274320"/>
          </a:xfrm>
          <a:prstGeom prst="rect">
            <a:avLst/>
          </a:prstGeom>
          <a:noFill/>
        </p:spPr>
        <p:txBody>
          <a:bodyPr wrap="square">
            <a:spAutoFit/>
          </a:bodyPr>
          <a:lstStyle/>
          <a:p>
            <a:pPr algn="r">
              <a:spcAft>
                <a:spcPts val="600"/>
              </a:spcAft>
            </a:pPr>
            <a:r>
              <a:rPr sz="1000" b="0">
                <a:solidFill>
                  <a:srgbClr val="66776E"/>
                </a:solidFill>
                <a:latin typeface="Calibri"/>
              </a:rPr>
              <a:t>11</a:t>
            </a:r>
          </a:p>
        </p:txBody>
      </p:sp>
      <p:sp>
        <p:nvSpPr>
          <p:cNvPr id="7" name="Rounded Rectangle 6"/>
          <p:cNvSpPr/>
          <p:nvPr/>
        </p:nvSpPr>
        <p:spPr>
          <a:xfrm>
            <a:off x="548640" y="1554480"/>
            <a:ext cx="3566160" cy="301752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64207"/>
            <a:ext cx="3200400" cy="457200"/>
          </a:xfrm>
          <a:prstGeom prst="rect">
            <a:avLst/>
          </a:prstGeom>
          <a:noFill/>
        </p:spPr>
        <p:txBody>
          <a:bodyPr wrap="square">
            <a:spAutoFit/>
          </a:bodyPr>
          <a:lstStyle/>
          <a:p>
            <a:pPr algn="l">
              <a:spcAft>
                <a:spcPts val="600"/>
              </a:spcAft>
            </a:pPr>
            <a:r>
              <a:rPr sz="1700" b="1">
                <a:solidFill>
                  <a:srgbClr val="FFFFFF"/>
                </a:solidFill>
                <a:latin typeface="Calibri"/>
              </a:rPr>
              <a:t>Lý luận</a:t>
            </a:r>
          </a:p>
        </p:txBody>
      </p:sp>
      <p:sp>
        <p:nvSpPr>
          <p:cNvPr id="9" name="TextBox 8"/>
          <p:cNvSpPr txBox="1"/>
          <p:nvPr/>
        </p:nvSpPr>
        <p:spPr>
          <a:xfrm>
            <a:off x="731520" y="2121408"/>
            <a:ext cx="3200400" cy="2377439"/>
          </a:xfrm>
          <a:prstGeom prst="rect">
            <a:avLst/>
          </a:prstGeom>
          <a:noFill/>
        </p:spPr>
        <p:txBody>
          <a:bodyPr wrap="square">
            <a:spAutoFit/>
          </a:bodyPr>
          <a:lstStyle/>
          <a:p>
            <a:pPr algn="l">
              <a:spcAft>
                <a:spcPts val="600"/>
              </a:spcAft>
            </a:pPr>
            <a:r>
              <a:rPr sz="1400" b="0">
                <a:solidFill>
                  <a:srgbClr val="FFFFFF"/>
                </a:solidFill>
                <a:latin typeface="Calibri"/>
              </a:rPr>
              <a:t>Đảng ra đời (2/1930) là kết quả của sự kết hợp chủ nghĩa Mác - Lênin với phong trào công nhân và phong trào yêu nước; Cương lĩnh đầu tiên chọn con đường cách mạng vô sản.</a:t>
            </a:r>
          </a:p>
        </p:txBody>
      </p:sp>
      <p:sp>
        <p:nvSpPr>
          <p:cNvPr id="10" name="Rounded Rectangle 9"/>
          <p:cNvSpPr/>
          <p:nvPr/>
        </p:nvSpPr>
        <p:spPr>
          <a:xfrm>
            <a:off x="4297680" y="1554480"/>
            <a:ext cx="3566160" cy="3017520"/>
          </a:xfrm>
          <a:prstGeom prst="roundRect">
            <a:avLst>
              <a:gd name="adj" fmla="val 8000"/>
            </a:avLst>
          </a:prstGeom>
          <a:solidFill>
            <a:srgbClr val="BF8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64207"/>
            <a:ext cx="3200400" cy="457200"/>
          </a:xfrm>
          <a:prstGeom prst="rect">
            <a:avLst/>
          </a:prstGeom>
          <a:noFill/>
        </p:spPr>
        <p:txBody>
          <a:bodyPr wrap="square">
            <a:spAutoFit/>
          </a:bodyPr>
          <a:lstStyle/>
          <a:p>
            <a:pPr algn="l">
              <a:spcAft>
                <a:spcPts val="600"/>
              </a:spcAft>
            </a:pPr>
            <a:r>
              <a:rPr sz="1700" b="1">
                <a:solidFill>
                  <a:srgbClr val="FFFFFF"/>
                </a:solidFill>
                <a:latin typeface="Calibri"/>
              </a:rPr>
              <a:t>Sản phẩm</a:t>
            </a:r>
          </a:p>
        </p:txBody>
      </p:sp>
      <p:sp>
        <p:nvSpPr>
          <p:cNvPr id="12" name="TextBox 11"/>
          <p:cNvSpPr txBox="1"/>
          <p:nvPr/>
        </p:nvSpPr>
        <p:spPr>
          <a:xfrm>
            <a:off x="4480560" y="2121408"/>
            <a:ext cx="3200400" cy="2377439"/>
          </a:xfrm>
          <a:prstGeom prst="rect">
            <a:avLst/>
          </a:prstGeom>
          <a:noFill/>
        </p:spPr>
        <p:txBody>
          <a:bodyPr wrap="square">
            <a:spAutoFit/>
          </a:bodyPr>
          <a:lstStyle/>
          <a:p>
            <a:pPr algn="l">
              <a:spcAft>
                <a:spcPts val="600"/>
              </a:spcAft>
            </a:pPr>
            <a:r>
              <a:rPr sz="1400" b="0">
                <a:solidFill>
                  <a:srgbClr val="FFFFFF"/>
                </a:solidFill>
                <a:latin typeface="Calibri"/>
              </a:rPr>
              <a:t>Biến kiến thức thành lựa chọn có hậu quả: mỗi đáp án đúng trao công cụ chặn đối thủ; lời giải thích kèm trang giáo trình sau mỗi lượt.</a:t>
            </a:r>
          </a:p>
        </p:txBody>
      </p:sp>
      <p:sp>
        <p:nvSpPr>
          <p:cNvPr id="13" name="Rounded Rectangle 12"/>
          <p:cNvSpPr/>
          <p:nvPr/>
        </p:nvSpPr>
        <p:spPr>
          <a:xfrm>
            <a:off x="8046720" y="1554480"/>
            <a:ext cx="3566160" cy="301752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664207"/>
            <a:ext cx="3200400" cy="457200"/>
          </a:xfrm>
          <a:prstGeom prst="rect">
            <a:avLst/>
          </a:prstGeom>
          <a:noFill/>
        </p:spPr>
        <p:txBody>
          <a:bodyPr wrap="square">
            <a:spAutoFit/>
          </a:bodyPr>
          <a:lstStyle/>
          <a:p>
            <a:pPr algn="l">
              <a:spcAft>
                <a:spcPts val="600"/>
              </a:spcAft>
            </a:pPr>
            <a:r>
              <a:rPr sz="1700" b="1">
                <a:solidFill>
                  <a:srgbClr val="FFFFFF"/>
                </a:solidFill>
                <a:latin typeface="Calibri"/>
              </a:rPr>
              <a:t>Bài học</a:t>
            </a:r>
          </a:p>
        </p:txBody>
      </p:sp>
      <p:sp>
        <p:nvSpPr>
          <p:cNvPr id="15" name="TextBox 14"/>
          <p:cNvSpPr txBox="1"/>
          <p:nvPr/>
        </p:nvSpPr>
        <p:spPr>
          <a:xfrm>
            <a:off x="8229600" y="2121408"/>
            <a:ext cx="3200400" cy="2377439"/>
          </a:xfrm>
          <a:prstGeom prst="rect">
            <a:avLst/>
          </a:prstGeom>
          <a:noFill/>
        </p:spPr>
        <p:txBody>
          <a:bodyPr wrap="square">
            <a:spAutoFit/>
          </a:bodyPr>
          <a:lstStyle/>
          <a:p>
            <a:pPr algn="l">
              <a:spcAft>
                <a:spcPts val="600"/>
              </a:spcAft>
            </a:pPr>
            <a:r>
              <a:rPr sz="1400" b="0">
                <a:solidFill>
                  <a:srgbClr val="FFFFFF"/>
                </a:solidFill>
                <a:latin typeface="Calibri"/>
              </a:rPr>
              <a:t>[Mỗi thành viên 1 câu]
[Khó khăn kỹ thuật/nội dung và cách giải quyết]
[Điều sẽ làm ở v3]</a:t>
            </a:r>
          </a:p>
        </p:txBody>
      </p:sp>
      <p:sp>
        <p:nvSpPr>
          <p:cNvPr id="16" name="Rounded Rectangle 15"/>
          <p:cNvSpPr/>
          <p:nvPr/>
        </p:nvSpPr>
        <p:spPr>
          <a:xfrm>
            <a:off x="548640" y="4937760"/>
            <a:ext cx="11064240" cy="1097280"/>
          </a:xfrm>
          <a:prstGeom prst="roundRect">
            <a:avLst>
              <a:gd name="adj" fmla="val 8000"/>
            </a:avLst>
          </a:prstGeom>
          <a:solidFill>
            <a:srgbClr val="E8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074920"/>
            <a:ext cx="10515600" cy="822960"/>
          </a:xfrm>
          <a:prstGeom prst="rect">
            <a:avLst/>
          </a:prstGeom>
          <a:noFill/>
        </p:spPr>
        <p:txBody>
          <a:bodyPr wrap="square">
            <a:spAutoFit/>
          </a:bodyPr>
          <a:lstStyle/>
          <a:p>
            <a:pPr algn="l">
              <a:spcAft>
                <a:spcPts val="600"/>
              </a:spcAft>
            </a:pPr>
            <a:r>
              <a:rPr sz="2000" b="1">
                <a:solidFill>
                  <a:srgbClr val="243D34"/>
                </a:solidFill>
                <a:latin typeface="Cambria"/>
              </a:rPr>
              <a:t>“Việc thành lập Đảng là một bước ngoặt vô cùng quan trọng trong lịch sử cách mạng Việt Nam ta.” (Hồ Chí Minh)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229600" cy="274320"/>
          </a:xfrm>
          <a:prstGeom prst="rect">
            <a:avLst/>
          </a:prstGeom>
          <a:noFill/>
        </p:spPr>
        <p:txBody>
          <a:bodyPr wrap="square">
            <a:spAutoFit/>
          </a:bodyPr>
          <a:lstStyle/>
          <a:p>
            <a:pPr algn="l">
              <a:spcAft>
                <a:spcPts val="600"/>
              </a:spcAft>
            </a:pPr>
            <a:r>
              <a:rPr sz="1200" b="1">
                <a:solidFill>
                  <a:srgbClr val="285E4D"/>
                </a:solidFill>
                <a:latin typeface="Calibri"/>
              </a:rPr>
              <a:t>Q&amp;A</a:t>
            </a:r>
          </a:p>
        </p:txBody>
      </p:sp>
      <p:sp>
        <p:nvSpPr>
          <p:cNvPr id="4" name="TextBox 3"/>
          <p:cNvSpPr txBox="1"/>
          <p:nvPr/>
        </p:nvSpPr>
        <p:spPr>
          <a:xfrm>
            <a:off x="548640" y="548640"/>
            <a:ext cx="10972800" cy="822960"/>
          </a:xfrm>
          <a:prstGeom prst="rect">
            <a:avLst/>
          </a:prstGeom>
          <a:noFill/>
        </p:spPr>
        <p:txBody>
          <a:bodyPr wrap="square">
            <a:spAutoFit/>
          </a:bodyPr>
          <a:lstStyle/>
          <a:p>
            <a:pPr algn="l">
              <a:spcAft>
                <a:spcPts val="600"/>
              </a:spcAft>
            </a:pPr>
            <a:r>
              <a:rPr sz="3200" b="1">
                <a:solidFill>
                  <a:srgbClr val="243D34"/>
                </a:solidFill>
                <a:latin typeface="Cambria"/>
              </a:rPr>
              <a:t>Sẵn sàng phản biện 3C: Context · Concept · Conflict</a:t>
            </a:r>
          </a:p>
        </p:txBody>
      </p:sp>
      <p:sp>
        <p:nvSpPr>
          <p:cNvPr id="5" name="TextBox 4"/>
          <p:cNvSpPr txBox="1"/>
          <p:nvPr/>
        </p:nvSpPr>
        <p:spPr>
          <a:xfrm>
            <a:off x="548640" y="6446520"/>
            <a:ext cx="8229600" cy="274320"/>
          </a:xfrm>
          <a:prstGeom prst="rect">
            <a:avLst/>
          </a:prstGeom>
          <a:noFill/>
        </p:spPr>
        <p:txBody>
          <a:bodyPr wrap="square">
            <a:spAutoFit/>
          </a:bodyPr>
          <a:lstStyle/>
          <a:p>
            <a:pPr algn="l">
              <a:spcAft>
                <a:spcPts val="600"/>
              </a:spcAft>
            </a:pPr>
            <a:r>
              <a:rPr sz="1000" b="0">
                <a:solidFill>
                  <a:srgbClr val="66776E"/>
                </a:solidFill>
                <a:latin typeface="Calibri"/>
              </a:rPr>
              <a:t>VNR202 · Cá Ngựa Cách Mạng v2 · Fall 2026</a:t>
            </a:r>
          </a:p>
        </p:txBody>
      </p:sp>
      <p:sp>
        <p:nvSpPr>
          <p:cNvPr id="6" name="TextBox 5"/>
          <p:cNvSpPr txBox="1"/>
          <p:nvPr/>
        </p:nvSpPr>
        <p:spPr>
          <a:xfrm>
            <a:off x="10972800" y="6446520"/>
            <a:ext cx="731520" cy="274320"/>
          </a:xfrm>
          <a:prstGeom prst="rect">
            <a:avLst/>
          </a:prstGeom>
          <a:noFill/>
        </p:spPr>
        <p:txBody>
          <a:bodyPr wrap="square">
            <a:spAutoFit/>
          </a:bodyPr>
          <a:lstStyle/>
          <a:p>
            <a:pPr algn="r">
              <a:spcAft>
                <a:spcPts val="600"/>
              </a:spcAft>
            </a:pPr>
            <a:r>
              <a:rPr sz="1000" b="0">
                <a:solidFill>
                  <a:srgbClr val="66776E"/>
                </a:solidFill>
                <a:latin typeface="Calibri"/>
              </a:rPr>
              <a:t>12</a:t>
            </a:r>
          </a:p>
        </p:txBody>
      </p:sp>
      <p:sp>
        <p:nvSpPr>
          <p:cNvPr id="7" name="Rounded Rectangle 6"/>
          <p:cNvSpPr/>
          <p:nvPr/>
        </p:nvSpPr>
        <p:spPr>
          <a:xfrm>
            <a:off x="548640" y="1554480"/>
            <a:ext cx="3566160" cy="4297680"/>
          </a:xfrm>
          <a:prstGeom prst="roundRect">
            <a:avLst>
              <a:gd name="adj" fmla="val 8000"/>
            </a:avLst>
          </a:prstGeom>
          <a:solidFill>
            <a:srgbClr val="285E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64207"/>
            <a:ext cx="3200400" cy="457200"/>
          </a:xfrm>
          <a:prstGeom prst="rect">
            <a:avLst/>
          </a:prstGeom>
          <a:noFill/>
        </p:spPr>
        <p:txBody>
          <a:bodyPr wrap="square">
            <a:spAutoFit/>
          </a:bodyPr>
          <a:lstStyle/>
          <a:p>
            <a:pPr algn="l">
              <a:spcAft>
                <a:spcPts val="600"/>
              </a:spcAft>
            </a:pPr>
            <a:r>
              <a:rPr sz="1700" b="1">
                <a:solidFill>
                  <a:srgbClr val="FFFFFF"/>
                </a:solidFill>
                <a:latin typeface="Calibri"/>
              </a:rPr>
              <a:t>Context (Bối cảnh)</a:t>
            </a:r>
          </a:p>
        </p:txBody>
      </p:sp>
      <p:sp>
        <p:nvSpPr>
          <p:cNvPr id="9" name="TextBox 8"/>
          <p:cNvSpPr txBox="1"/>
          <p:nvPr/>
        </p:nvSpPr>
        <p:spPr>
          <a:xfrm>
            <a:off x="731520" y="2121408"/>
            <a:ext cx="3200400" cy="3657600"/>
          </a:xfrm>
          <a:prstGeom prst="rect">
            <a:avLst/>
          </a:prstGeom>
          <a:noFill/>
        </p:spPr>
        <p:txBody>
          <a:bodyPr wrap="square">
            <a:spAutoFit/>
          </a:bodyPr>
          <a:lstStyle/>
          <a:p>
            <a:pPr algn="l">
              <a:spcAft>
                <a:spcPts val="600"/>
              </a:spcAft>
            </a:pPr>
            <a:r>
              <a:rPr sz="1400" b="0">
                <a:solidFill>
                  <a:srgbClr val="FFFFFF"/>
                </a:solidFill>
                <a:latin typeface="Calibri"/>
              </a:rPr>
              <a:t>Vì sao đầu thế kỷ XX các phong trào yêu nước đều thất bại?</a:t>
            </a:r>
          </a:p>
          <a:p>
            <a:pPr algn="l">
              <a:spcAft>
                <a:spcPts val="600"/>
              </a:spcAft>
            </a:pPr>
            <a:r>
              <a:rPr sz="1400" b="0">
                <a:solidFill>
                  <a:srgbClr val="FFFFFF"/>
                </a:solidFill>
                <a:latin typeface="Calibri"/>
              </a:rPr>
              <a:t>Vì sao Nguyễn Ái Quốc chọn con đường Lênin?</a:t>
            </a:r>
          </a:p>
          <a:p>
            <a:pPr algn="l">
              <a:spcAft>
                <a:spcPts val="600"/>
              </a:spcAft>
            </a:pPr>
            <a:r>
              <a:rPr sz="1400" b="0">
                <a:solidFill>
                  <a:srgbClr val="FFFFFF"/>
                </a:solidFill>
                <a:latin typeface="Calibri"/>
              </a:rPr>
              <a:t>Vì sao năm 1929 cần hợp nhất ba tổ chức?</a:t>
            </a:r>
          </a:p>
        </p:txBody>
      </p:sp>
      <p:sp>
        <p:nvSpPr>
          <p:cNvPr id="10" name="Rounded Rectangle 9"/>
          <p:cNvSpPr/>
          <p:nvPr/>
        </p:nvSpPr>
        <p:spPr>
          <a:xfrm>
            <a:off x="4297680" y="1554480"/>
            <a:ext cx="3566160" cy="4297680"/>
          </a:xfrm>
          <a:prstGeom prst="roundRect">
            <a:avLst>
              <a:gd name="adj" fmla="val 8000"/>
            </a:avLst>
          </a:prstGeom>
          <a:solidFill>
            <a:srgbClr val="BF8B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64207"/>
            <a:ext cx="3200400" cy="457200"/>
          </a:xfrm>
          <a:prstGeom prst="rect">
            <a:avLst/>
          </a:prstGeom>
          <a:noFill/>
        </p:spPr>
        <p:txBody>
          <a:bodyPr wrap="square">
            <a:spAutoFit/>
          </a:bodyPr>
          <a:lstStyle/>
          <a:p>
            <a:pPr algn="l">
              <a:spcAft>
                <a:spcPts val="600"/>
              </a:spcAft>
            </a:pPr>
            <a:r>
              <a:rPr sz="1700" b="1">
                <a:solidFill>
                  <a:srgbClr val="FFFFFF"/>
                </a:solidFill>
                <a:latin typeface="Calibri"/>
              </a:rPr>
              <a:t>Concept (Khái niệm)</a:t>
            </a:r>
          </a:p>
        </p:txBody>
      </p:sp>
      <p:sp>
        <p:nvSpPr>
          <p:cNvPr id="12" name="TextBox 11"/>
          <p:cNvSpPr txBox="1"/>
          <p:nvPr/>
        </p:nvSpPr>
        <p:spPr>
          <a:xfrm>
            <a:off x="4480560" y="2121408"/>
            <a:ext cx="3200400" cy="3657600"/>
          </a:xfrm>
          <a:prstGeom prst="rect">
            <a:avLst/>
          </a:prstGeom>
          <a:noFill/>
        </p:spPr>
        <p:txBody>
          <a:bodyPr wrap="square">
            <a:spAutoFit/>
          </a:bodyPr>
          <a:lstStyle/>
          <a:p>
            <a:pPr algn="l">
              <a:spcAft>
                <a:spcPts val="600"/>
              </a:spcAft>
            </a:pPr>
            <a:r>
              <a:rPr sz="1400" b="0">
                <a:solidFill>
                  <a:srgbClr val="FFFFFF"/>
                </a:solidFill>
                <a:latin typeface="Calibri"/>
              </a:rPr>
              <a:t>Cương lĩnh đầu tiên gồm những văn kiện nào, “vắn tắt” nghĩa là gì?</a:t>
            </a:r>
          </a:p>
          <a:p>
            <a:pPr algn="l">
              <a:spcAft>
                <a:spcPts val="600"/>
              </a:spcAft>
            </a:pPr>
            <a:r>
              <a:rPr sz="1400" b="0">
                <a:solidFill>
                  <a:srgbClr val="FFFFFF"/>
                </a:solidFill>
                <a:latin typeface="Calibri"/>
              </a:rPr>
              <a:t>Tư sản dân quyền cách mạng và thổ địa cách mạng là gì?</a:t>
            </a:r>
          </a:p>
          <a:p>
            <a:pPr algn="l">
              <a:spcAft>
                <a:spcPts val="600"/>
              </a:spcAft>
            </a:pPr>
            <a:r>
              <a:rPr sz="1400" b="0">
                <a:solidFill>
                  <a:srgbClr val="FFFFFF"/>
                </a:solidFill>
                <a:latin typeface="Calibri"/>
              </a:rPr>
              <a:t>Vì sao chống đế quốc đặt hàng đầu?</a:t>
            </a:r>
          </a:p>
        </p:txBody>
      </p:sp>
      <p:sp>
        <p:nvSpPr>
          <p:cNvPr id="13" name="Rounded Rectangle 12"/>
          <p:cNvSpPr/>
          <p:nvPr/>
        </p:nvSpPr>
        <p:spPr>
          <a:xfrm>
            <a:off x="8046720" y="1554480"/>
            <a:ext cx="3566160" cy="4297680"/>
          </a:xfrm>
          <a:prstGeom prst="roundRect">
            <a:avLst>
              <a:gd name="adj" fmla="val 8000"/>
            </a:avLst>
          </a:prstGeom>
          <a:solidFill>
            <a:srgbClr val="A84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664207"/>
            <a:ext cx="3200400" cy="457200"/>
          </a:xfrm>
          <a:prstGeom prst="rect">
            <a:avLst/>
          </a:prstGeom>
          <a:noFill/>
        </p:spPr>
        <p:txBody>
          <a:bodyPr wrap="square">
            <a:spAutoFit/>
          </a:bodyPr>
          <a:lstStyle/>
          <a:p>
            <a:pPr algn="l">
              <a:spcAft>
                <a:spcPts val="600"/>
              </a:spcAft>
            </a:pPr>
            <a:r>
              <a:rPr sz="1700" b="1">
                <a:solidFill>
                  <a:srgbClr val="FFFFFF"/>
                </a:solidFill>
                <a:latin typeface="Calibri"/>
              </a:rPr>
              <a:t>Conflict (Mâu thuẫn)</a:t>
            </a:r>
          </a:p>
        </p:txBody>
      </p:sp>
      <p:sp>
        <p:nvSpPr>
          <p:cNvPr id="15" name="TextBox 14"/>
          <p:cNvSpPr txBox="1"/>
          <p:nvPr/>
        </p:nvSpPr>
        <p:spPr>
          <a:xfrm>
            <a:off x="8229600" y="2121408"/>
            <a:ext cx="3200400" cy="3657600"/>
          </a:xfrm>
          <a:prstGeom prst="rect">
            <a:avLst/>
          </a:prstGeom>
          <a:noFill/>
        </p:spPr>
        <p:txBody>
          <a:bodyPr wrap="square">
            <a:spAutoFit/>
          </a:bodyPr>
          <a:lstStyle/>
          <a:p>
            <a:pPr algn="l">
              <a:spcAft>
                <a:spcPts val="600"/>
              </a:spcAft>
            </a:pPr>
            <a:r>
              <a:rPr sz="1400" b="0">
                <a:solidFill>
                  <a:srgbClr val="FFFFFF"/>
                </a:solidFill>
                <a:latin typeface="Calibri"/>
              </a:rPr>
              <a:t>Trò chơi có làm nhẹ tính nghiêm túc của lịch sử không? Nhóm xử lý thế nào?</a:t>
            </a:r>
          </a:p>
          <a:p>
            <a:pPr algn="l">
              <a:spcAft>
                <a:spcPts val="600"/>
              </a:spcAft>
            </a:pPr>
            <a:r>
              <a:rPr sz="1400" b="0">
                <a:solidFill>
                  <a:srgbClr val="FFFFFF"/>
                </a:solidFill>
                <a:latin typeface="Calibri"/>
              </a:rPr>
              <a:t>Đáp án sai mà vẫn được đi: có khuyến khích học vẹt không?</a:t>
            </a:r>
          </a:p>
          <a:p>
            <a:pPr algn="l">
              <a:spcAft>
                <a:spcPts val="600"/>
              </a:spcAft>
            </a:pPr>
            <a:r>
              <a:rPr sz="1400" b="0">
                <a:solidFill>
                  <a:srgbClr val="FFFFFF"/>
                </a:solidFill>
                <a:latin typeface="Calibri"/>
              </a:rPr>
              <a:t>Thẻ “Mua Chuộc”, “Đàn Áp” gắn với lịch sử có phù hợp?</a:t>
            </a:r>
          </a:p>
        </p:txBody>
      </p:sp>
      <p:sp>
        <p:nvSpPr>
          <p:cNvPr id="16" name="TextBox 15"/>
          <p:cNvSpPr txBox="1"/>
          <p:nvPr/>
        </p:nvSpPr>
        <p:spPr>
          <a:xfrm>
            <a:off x="548640" y="5989320"/>
            <a:ext cx="10972800" cy="365760"/>
          </a:xfrm>
          <a:prstGeom prst="rect">
            <a:avLst/>
          </a:prstGeom>
          <a:noFill/>
        </p:spPr>
        <p:txBody>
          <a:bodyPr wrap="square">
            <a:spAutoFit/>
          </a:bodyPr>
          <a:lstStyle/>
          <a:p>
            <a:pPr algn="l">
              <a:spcAft>
                <a:spcPts val="600"/>
              </a:spcAft>
            </a:pPr>
            <a:r>
              <a:rPr sz="1400" b="1">
                <a:solidFill>
                  <a:srgbClr val="285E4D"/>
                </a:solidFill>
                <a:latin typeface="Calibri"/>
              </a:rPr>
              <a:t>Cảm ơn hội trường · Demo và mã nguồn: [LINK DRIVE / REPO]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